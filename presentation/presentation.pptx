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Lato" panose="020F0502020204030203" pitchFamily="34" charset="0"/>
      <p:regular r:id="rId27"/>
      <p:bold r:id="rId28"/>
      <p:italic r:id="rId29"/>
      <p:boldItalic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48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morning. My final project is a chatbot that helps footwear store managers find out what stock they can pull from the central warehouse, and turns that answer into a printable picking list.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chose this because I lived it. Every one of these bullets is something I did by hand, week after week. The routine was the worst part: the same export, the same tidying, the same comparison, over and over.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goals. Everything in the project serves one of these.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data, so it is anonymised and stays out of the repo. The raw file is much bigger than what I actually use — most of it is other product families and stores outside the scope I chose.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negative quantities were the interesting one. My first instinct was to drop those rows, but they represent transfers in progress, so treating them as zero is the conservative choice: it never overstates what is available.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scope decision, not a data problem. Six stores is enough to prove the logic works, and the code has nothing store-specific in it, so adding the rest is a change to one list.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chart is the one that shaped the logic. Look at how much of it is zero. Each store has its own assortment, so a general "send this store everything HQ has" would be useless. The rule I built follows directly from what this shows.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was the hardest cleaning problem. A 6 in kids US sizing and a 6 in EU sizing are completely different shoes. The reason it is safe is that the replenishment logic never compares sizes across references.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Now the part that matters — the architecture.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single most important design decision in the project. The model is a router. If it hallucinated a quantity, a store would ship the wrong shoes.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description is the whole trick. The model matches the user question against these descriptions to pick the right tool.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functions. They live in src/replenishment.py so the notebook and the app share the same code instead of keeping two copies that drift apart.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scope rule is the important part. This is size-gap replenishment, not new assortment. Without it a general request returns thousands of useless lines.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deliberately kept this out of the database. A stateless design was easier to defend and the deadline did not allow a persistence layer. Querying is free; only generating a document commits.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Small detail that matters: the person picking does not need to know HQ has 107 pairs. They need to know they are taking one. Showing both invites mistakes.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SCRIPT:</a:t>
            </a:r>
          </a:p>
          <a:p>
            <a:r>
              <a:t>1. "Where is reference DH2920?" — shows the text answer</a:t>
            </a:r>
          </a:p>
          <a:p>
            <a:r>
              <a:t>2. "Which Nike sizes are missing in Loja Colombo?" — shows the table</a:t>
            </a:r>
          </a:p>
          <a:p>
            <a:r>
              <a:t>3. Set units per size to 1, generate the document, open it</a:t>
            </a:r>
          </a:p>
          <a:p>
            <a:r>
              <a:t>4. Ask the same question again — the committed sizes are gone</a:t>
            </a:r>
          </a:p>
          <a:p>
            <a:endParaRPr/>
          </a:p>
          <a:p>
            <a:r>
              <a:t>Reset session allocations before starting.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you remember one slide, this is it. Every one of these was a decision with an alternative I rejected for a reason.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would rather tell you these than have you find them. Each one was a scope decision, not an oversight.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second one is the real product. Everything here finds size gaps; with sales data it starts deciding quantities, and that is where the value is. The last two come from the same idea: stock should move sideways, not only from HQ down.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Questions.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4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501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>
                <a:solidFill>
                  <a:srgbClr val="FFFFFF"/>
                </a:solidFill>
                <a:latin typeface="Montserrat"/>
              </a:rPr>
              <a:t>Stock Replenishment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300">
                <a:solidFill>
                  <a:srgbClr val="B8C0CC"/>
                </a:solidFill>
                <a:latin typeface="Montserrat"/>
              </a:rPr>
              <a:t>Nelson Portela  ·  Ironhack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Montserrat"/>
              </a:rPr>
              <a:t>What? Why?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85583"/>
            <a:ext cx="8321040" cy="68736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400"/>
              </a:spcAft>
            </a:pPr>
            <a:endParaRPr lang="pt-PT" sz="1500" dirty="0">
              <a:solidFill>
                <a:srgbClr val="FFFFFF"/>
              </a:solidFill>
              <a:latin typeface="Montserrat"/>
            </a:endParaRPr>
          </a:p>
          <a:p>
            <a:pPr>
              <a:spcAft>
                <a:spcPts val="1400"/>
              </a:spcAft>
            </a:pPr>
            <a:r>
              <a:rPr sz="1500" dirty="0">
                <a:solidFill>
                  <a:srgbClr val="FFFFFF"/>
                </a:solidFill>
                <a:latin typeface="Montserrat"/>
              </a:rPr>
              <a:t>I wanted to build something I would actually use, not a dataset exercise.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034259"/>
            <a:ext cx="8321040" cy="212365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800"/>
              </a:spcAft>
            </a:pPr>
            <a:r>
              <a:rPr lang="pt-PT" sz="1500" dirty="0" err="1">
                <a:solidFill>
                  <a:srgbClr val="FFFFFF"/>
                </a:solidFill>
                <a:latin typeface="Montserrat"/>
              </a:rPr>
              <a:t>Work</a:t>
            </a:r>
            <a:r>
              <a:rPr lang="pt-PT" sz="1500" dirty="0">
                <a:solidFill>
                  <a:srgbClr val="FFFFFF"/>
                </a:solidFill>
                <a:latin typeface="Montserrat"/>
              </a:rPr>
              <a:t> </a:t>
            </a:r>
            <a:r>
              <a:rPr lang="pt-PT" sz="1500" dirty="0" err="1">
                <a:solidFill>
                  <a:srgbClr val="FFFFFF"/>
                </a:solidFill>
                <a:latin typeface="Montserrat"/>
              </a:rPr>
              <a:t>flow</a:t>
            </a:r>
            <a:r>
              <a:rPr lang="pt-PT" sz="1500" dirty="0">
                <a:solidFill>
                  <a:srgbClr val="FFFFFF"/>
                </a:solidFill>
                <a:latin typeface="Montserrat"/>
              </a:rPr>
              <a:t>:</a:t>
            </a:r>
          </a:p>
          <a:p>
            <a:pPr>
              <a:spcAft>
                <a:spcPts val="1800"/>
              </a:spcAft>
            </a:pPr>
            <a:r>
              <a:rPr sz="1500" dirty="0">
                <a:solidFill>
                  <a:srgbClr val="FFFFFF"/>
                </a:solidFill>
                <a:latin typeface="Montserrat"/>
              </a:rPr>
              <a:t>Export the stock file, tidy the data, compare store against warehouse. Every time.</a:t>
            </a:r>
          </a:p>
          <a:p>
            <a:pPr>
              <a:spcAft>
                <a:spcPts val="1800"/>
              </a:spcAft>
            </a:pPr>
            <a:r>
              <a:rPr sz="1500" dirty="0">
                <a:solidFill>
                  <a:srgbClr val="FFFFFF"/>
                </a:solidFill>
                <a:latin typeface="Montserrat"/>
              </a:rPr>
              <a:t>Sizes missing on the shelf, while the same size sat in the warehouse.</a:t>
            </a:r>
          </a:p>
          <a:p>
            <a:pPr>
              <a:spcAft>
                <a:spcPts val="1800"/>
              </a:spcAft>
            </a:pPr>
            <a:r>
              <a:rPr sz="1500" dirty="0">
                <a:solidFill>
                  <a:srgbClr val="FFFFFF"/>
                </a:solidFill>
                <a:latin typeface="Montserrat"/>
              </a:rPr>
              <a:t>Checking took long enough that nobody checked often.</a:t>
            </a:r>
          </a:p>
          <a:p>
            <a:pPr>
              <a:spcAft>
                <a:spcPts val="1800"/>
              </a:spcAft>
            </a:pPr>
            <a:r>
              <a:rPr sz="1500" dirty="0">
                <a:solidFill>
                  <a:srgbClr val="FFFFFF"/>
                </a:solidFill>
                <a:latin typeface="Montserrat"/>
              </a:rPr>
              <a:t>No easy way to know what had already been sent somewhere else.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03242"/>
          </a:xfrm>
        </p:spPr>
        <p:txBody>
          <a:bodyPr>
            <a:normAutofit fontScale="90000"/>
          </a:bodyPr>
          <a:lstStyle/>
          <a:p>
            <a:r>
              <a:rPr sz="2800" b="1" dirty="0">
                <a:solidFill>
                  <a:srgbClr val="FFFFFF"/>
                </a:solidFill>
                <a:latin typeface="Montserrat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6060"/>
            <a:ext cx="8321040" cy="32232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2400"/>
              </a:spcAft>
            </a:pPr>
            <a:r>
              <a:rPr sz="1700" dirty="0">
                <a:solidFill>
                  <a:srgbClr val="FFFFFF"/>
                </a:solidFill>
                <a:latin typeface="Montserrat"/>
              </a:rPr>
              <a:t>Do the work automatically, instead of by hand.</a:t>
            </a:r>
          </a:p>
          <a:p>
            <a:pPr>
              <a:spcAft>
                <a:spcPts val="2400"/>
              </a:spcAft>
            </a:pPr>
            <a:r>
              <a:rPr sz="1700" dirty="0">
                <a:solidFill>
                  <a:srgbClr val="FFFFFF"/>
                </a:solidFill>
                <a:latin typeface="Montserrat"/>
              </a:rPr>
              <a:t>Answer stock questions by talking to it.</a:t>
            </a:r>
          </a:p>
          <a:p>
            <a:pPr>
              <a:spcAft>
                <a:spcPts val="2400"/>
              </a:spcAft>
            </a:pPr>
            <a:r>
              <a:rPr sz="1700" dirty="0">
                <a:solidFill>
                  <a:srgbClr val="FFFFFF"/>
                </a:solidFill>
                <a:latin typeface="Montserrat"/>
              </a:rPr>
              <a:t>Find the sizes a store is missing.</a:t>
            </a:r>
          </a:p>
          <a:p>
            <a:pPr>
              <a:spcAft>
                <a:spcPts val="2400"/>
              </a:spcAft>
            </a:pPr>
            <a:r>
              <a:rPr sz="1700" dirty="0">
                <a:solidFill>
                  <a:srgbClr val="FFFFFF"/>
                </a:solidFill>
                <a:latin typeface="Montserrat"/>
              </a:rPr>
              <a:t>Create a picking list ready to print.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62C46-F23B-CF67-7314-8FCFFE4BCD26}"/>
              </a:ext>
            </a:extLst>
          </p:cNvPr>
          <p:cNvSpPr txBox="1"/>
          <p:nvPr/>
        </p:nvSpPr>
        <p:spPr>
          <a:xfrm>
            <a:off x="411480" y="3657600"/>
            <a:ext cx="8321040" cy="6617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dirty="0">
                <a:solidFill>
                  <a:srgbClr val="82C7A5"/>
                </a:solidFill>
                <a:latin typeface="Montserrat"/>
              </a:rPr>
              <a:t>The idea: take a picture of the stock at a given moment, and let the system do the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Montserrat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8321040" cy="38176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Montserrat"/>
              </a:rPr>
              <a:t>A real stock snapshot from a footwear retailer, one row per brand, reference, size and location.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554480"/>
            <a:ext cx="8321040" cy="32232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050">
                <a:solidFill>
                  <a:srgbClr val="B8C0CC"/>
                </a:solidFill>
                <a:latin typeface="Montserrat"/>
              </a:rPr>
              <a:t>RAW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10512"/>
            <a:ext cx="1908810" cy="914400"/>
          </a:xfrm>
          <a:prstGeom prst="roundRect">
            <a:avLst>
              <a:gd name="adj" fmla="val 8000"/>
            </a:avLst>
          </a:prstGeom>
          <a:solidFill>
            <a:srgbClr val="12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975104"/>
            <a:ext cx="190881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2C7A5"/>
                </a:solidFill>
                <a:latin typeface="Montserrat"/>
              </a:rPr>
              <a:t>128,075</a:t>
            </a:r>
          </a:p>
          <a:p>
            <a:pPr algn="ctr"/>
            <a:r>
              <a:rPr sz="1100">
                <a:solidFill>
                  <a:srgbClr val="B8C0CC"/>
                </a:solidFill>
                <a:latin typeface="Montserrat"/>
              </a:rPr>
              <a:t>rows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8890" y="1810512"/>
            <a:ext cx="1908810" cy="914400"/>
          </a:xfrm>
          <a:prstGeom prst="roundRect">
            <a:avLst>
              <a:gd name="adj" fmla="val 8000"/>
            </a:avLst>
          </a:prstGeom>
          <a:solidFill>
            <a:srgbClr val="12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8890" y="1975104"/>
            <a:ext cx="190881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2C7A5"/>
                </a:solidFill>
                <a:latin typeface="Montserrat"/>
              </a:rPr>
              <a:t>16</a:t>
            </a:r>
          </a:p>
          <a:p>
            <a:pPr algn="ctr"/>
            <a:r>
              <a:rPr sz="1100">
                <a:solidFill>
                  <a:srgbClr val="B8C0CC"/>
                </a:solidFill>
                <a:latin typeface="Montserrat"/>
              </a:rPr>
              <a:t>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6300" y="1810512"/>
            <a:ext cx="1908810" cy="914400"/>
          </a:xfrm>
          <a:prstGeom prst="roundRect">
            <a:avLst>
              <a:gd name="adj" fmla="val 8000"/>
            </a:avLst>
          </a:prstGeom>
          <a:solidFill>
            <a:srgbClr val="12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6300" y="1975104"/>
            <a:ext cx="190881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2C7A5"/>
                </a:solidFill>
                <a:latin typeface="Montserrat"/>
              </a:rPr>
              <a:t>41</a:t>
            </a:r>
          </a:p>
          <a:p>
            <a:pPr algn="ctr"/>
            <a:r>
              <a:rPr sz="1100">
                <a:solidFill>
                  <a:srgbClr val="B8C0CC"/>
                </a:solidFill>
                <a:latin typeface="Montserrat"/>
              </a:rPr>
              <a:t>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23709" y="1810512"/>
            <a:ext cx="1908810" cy="914400"/>
          </a:xfrm>
          <a:prstGeom prst="roundRect">
            <a:avLst>
              <a:gd name="adj" fmla="val 8000"/>
            </a:avLst>
          </a:prstGeom>
          <a:solidFill>
            <a:srgbClr val="12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23709" y="1975104"/>
            <a:ext cx="190881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2C7A5"/>
                </a:solidFill>
                <a:latin typeface="Montserrat"/>
              </a:rPr>
              <a:t>all</a:t>
            </a:r>
          </a:p>
          <a:p>
            <a:pPr algn="ctr"/>
            <a:r>
              <a:rPr sz="1100">
                <a:solidFill>
                  <a:srgbClr val="B8C0CC"/>
                </a:solidFill>
                <a:latin typeface="Montserrat"/>
              </a:rPr>
              <a:t>product families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07792"/>
            <a:ext cx="8321040" cy="1869948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050">
                <a:solidFill>
                  <a:srgbClr val="B8C0CC"/>
                </a:solidFill>
                <a:latin typeface="Montserrat"/>
              </a:rPr>
              <a:t>AFTER CLEANING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163824"/>
            <a:ext cx="1908810" cy="914400"/>
          </a:xfrm>
          <a:prstGeom prst="roundRect">
            <a:avLst>
              <a:gd name="adj" fmla="val 8000"/>
            </a:avLst>
          </a:prstGeom>
          <a:solidFill>
            <a:srgbClr val="12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328416"/>
            <a:ext cx="190881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2C7A5"/>
                </a:solidFill>
                <a:latin typeface="Montserrat"/>
              </a:rPr>
              <a:t>23,279</a:t>
            </a:r>
          </a:p>
          <a:p>
            <a:pPr algn="ctr"/>
            <a:r>
              <a:rPr sz="1100">
                <a:solidFill>
                  <a:srgbClr val="B8C0CC"/>
                </a:solidFill>
                <a:latin typeface="Montserrat"/>
              </a:rPr>
              <a:t>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48890" y="3163824"/>
            <a:ext cx="1908810" cy="914400"/>
          </a:xfrm>
          <a:prstGeom prst="roundRect">
            <a:avLst>
              <a:gd name="adj" fmla="val 8000"/>
            </a:avLst>
          </a:prstGeom>
          <a:solidFill>
            <a:srgbClr val="12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48890" y="3328416"/>
            <a:ext cx="190881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2C7A5"/>
                </a:solidFill>
                <a:latin typeface="Montserrat"/>
              </a:rPr>
              <a:t>12</a:t>
            </a:r>
          </a:p>
          <a:p>
            <a:pPr algn="ctr"/>
            <a:r>
              <a:rPr sz="1100">
                <a:solidFill>
                  <a:srgbClr val="B8C0CC"/>
                </a:solidFill>
                <a:latin typeface="Montserrat"/>
              </a:rPr>
              <a:t>columns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86300" y="3163824"/>
            <a:ext cx="1908810" cy="914400"/>
          </a:xfrm>
          <a:prstGeom prst="roundRect">
            <a:avLst>
              <a:gd name="adj" fmla="val 8000"/>
            </a:avLst>
          </a:prstGeom>
          <a:solidFill>
            <a:srgbClr val="12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86300" y="3328416"/>
            <a:ext cx="190881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2C7A5"/>
                </a:solidFill>
                <a:latin typeface="Montserrat"/>
              </a:rPr>
              <a:t>7</a:t>
            </a:r>
          </a:p>
          <a:p>
            <a:pPr algn="ctr"/>
            <a:r>
              <a:rPr sz="1100">
                <a:solidFill>
                  <a:srgbClr val="B8C0CC"/>
                </a:solidFill>
                <a:latin typeface="Montserrat"/>
              </a:rPr>
              <a:t>locations (HQ + 6 stores)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23709" y="3163824"/>
            <a:ext cx="1908810" cy="914400"/>
          </a:xfrm>
          <a:prstGeom prst="roundRect">
            <a:avLst>
              <a:gd name="adj" fmla="val 8000"/>
            </a:avLst>
          </a:prstGeom>
          <a:solidFill>
            <a:srgbClr val="12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23709" y="3328416"/>
            <a:ext cx="190881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2C7A5"/>
                </a:solidFill>
                <a:latin typeface="Montserrat"/>
              </a:rPr>
              <a:t>1</a:t>
            </a:r>
          </a:p>
          <a:p>
            <a:pPr algn="ctr"/>
            <a:r>
              <a:rPr sz="1100">
                <a:solidFill>
                  <a:srgbClr val="B8C0CC"/>
                </a:solidFill>
                <a:latin typeface="Montserrat"/>
              </a:rPr>
              <a:t>footwear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Montserrat"/>
              </a:rPr>
              <a:t>Cleaning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95578"/>
            <a:ext cx="8321040" cy="126188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350" dirty="0">
                <a:solidFill>
                  <a:srgbClr val="FFFFFF"/>
                </a:solidFill>
                <a:latin typeface="Montserrat"/>
              </a:rPr>
              <a:t>Kept warehouses 1 (HQ), 2 (stores) and 5 (outlets)</a:t>
            </a:r>
            <a:r>
              <a:rPr lang="pt-PT" sz="1350" dirty="0">
                <a:solidFill>
                  <a:srgbClr val="FFFFFF"/>
                </a:solidFill>
                <a:latin typeface="Montserrat"/>
              </a:rPr>
              <a:t> </a:t>
            </a:r>
            <a:r>
              <a:rPr lang="pt-PT" sz="1350" dirty="0" err="1">
                <a:solidFill>
                  <a:srgbClr val="FFFFFF"/>
                </a:solidFill>
                <a:latin typeface="Montserrat"/>
              </a:rPr>
              <a:t>because</a:t>
            </a:r>
            <a:r>
              <a:rPr lang="pt-PT" sz="1350" dirty="0">
                <a:solidFill>
                  <a:srgbClr val="FFFFFF"/>
                </a:solidFill>
                <a:latin typeface="Montserrat"/>
              </a:rPr>
              <a:t> </a:t>
            </a:r>
            <a:r>
              <a:rPr lang="pt-PT" sz="1350" dirty="0" err="1">
                <a:solidFill>
                  <a:srgbClr val="FFFFFF"/>
                </a:solidFill>
                <a:latin typeface="Montserrat"/>
              </a:rPr>
              <a:t>is</a:t>
            </a:r>
            <a:r>
              <a:rPr lang="pt-PT" sz="1350" dirty="0">
                <a:solidFill>
                  <a:srgbClr val="FFFFFF"/>
                </a:solidFill>
                <a:latin typeface="Montserrat"/>
              </a:rPr>
              <a:t> </a:t>
            </a:r>
            <a:r>
              <a:rPr lang="pt-PT" sz="1350" dirty="0" err="1">
                <a:solidFill>
                  <a:srgbClr val="FFFFFF"/>
                </a:solidFill>
                <a:latin typeface="Montserrat"/>
              </a:rPr>
              <a:t>the</a:t>
            </a:r>
            <a:r>
              <a:rPr lang="pt-PT" sz="1350" dirty="0">
                <a:solidFill>
                  <a:srgbClr val="FFFFFF"/>
                </a:solidFill>
                <a:latin typeface="Montserrat"/>
              </a:rPr>
              <a:t> </a:t>
            </a:r>
            <a:r>
              <a:rPr lang="pt-PT" sz="1350" dirty="0" err="1">
                <a:solidFill>
                  <a:srgbClr val="FFFFFF"/>
                </a:solidFill>
                <a:latin typeface="Montserrat"/>
              </a:rPr>
              <a:t>warehouses</a:t>
            </a:r>
            <a:r>
              <a:rPr lang="pt-PT" sz="1350" dirty="0">
                <a:solidFill>
                  <a:srgbClr val="FFFFFF"/>
                </a:solidFill>
                <a:latin typeface="Montserrat"/>
              </a:rPr>
              <a:t> </a:t>
            </a:r>
            <a:r>
              <a:rPr lang="pt-PT" sz="1350" dirty="0" err="1">
                <a:solidFill>
                  <a:srgbClr val="FFFFFF"/>
                </a:solidFill>
                <a:latin typeface="Montserrat"/>
              </a:rPr>
              <a:t>with</a:t>
            </a:r>
            <a:r>
              <a:rPr lang="pt-PT" sz="1350" dirty="0">
                <a:solidFill>
                  <a:srgbClr val="FFFFFF"/>
                </a:solidFill>
                <a:latin typeface="Montserrat"/>
              </a:rPr>
              <a:t> more </a:t>
            </a:r>
            <a:r>
              <a:rPr lang="pt-PT" sz="1350" dirty="0" err="1">
                <a:solidFill>
                  <a:srgbClr val="FFFFFF"/>
                </a:solidFill>
                <a:latin typeface="Montserrat"/>
              </a:rPr>
              <a:t>units</a:t>
            </a:r>
            <a:r>
              <a:rPr lang="pt-PT" sz="1350" dirty="0">
                <a:solidFill>
                  <a:srgbClr val="FFFFFF"/>
                </a:solidFill>
                <a:latin typeface="Montserrat"/>
              </a:rPr>
              <a:t>.</a:t>
            </a:r>
            <a:endParaRPr sz="1350" dirty="0">
              <a:solidFill>
                <a:srgbClr val="FFFFFF"/>
              </a:solidFill>
              <a:latin typeface="Montserrat"/>
            </a:endParaRPr>
          </a:p>
          <a:p>
            <a:pPr>
              <a:spcAft>
                <a:spcPts val="1000"/>
              </a:spcAft>
            </a:pPr>
            <a:r>
              <a:rPr sz="1350" dirty="0">
                <a:solidFill>
                  <a:srgbClr val="FFFFFF"/>
                </a:solidFill>
                <a:latin typeface="Montserrat"/>
              </a:rPr>
              <a:t>Footwear only. The family column had 181 different labels, all folded into one.</a:t>
            </a:r>
          </a:p>
          <a:p>
            <a:pPr>
              <a:spcAft>
                <a:spcPts val="1000"/>
              </a:spcAft>
            </a:pPr>
            <a:r>
              <a:rPr sz="1350" dirty="0">
                <a:solidFill>
                  <a:srgbClr val="FFFFFF"/>
                </a:solidFill>
                <a:latin typeface="Montserrat"/>
              </a:rPr>
              <a:t>Negative quantities set to 0 — 4,206 rows</a:t>
            </a:r>
            <a:endParaRPr lang="pt-PT" sz="1350" dirty="0">
              <a:solidFill>
                <a:srgbClr val="FFFFFF"/>
              </a:solidFill>
              <a:latin typeface="Montserrat"/>
            </a:endParaRPr>
          </a:p>
          <a:p>
            <a:pPr>
              <a:spcAft>
                <a:spcPts val="1000"/>
              </a:spcAft>
            </a:pPr>
            <a:r>
              <a:rPr sz="1350" dirty="0">
                <a:solidFill>
                  <a:srgbClr val="FFFFFF"/>
                </a:solidFill>
                <a:latin typeface="Montserrat"/>
              </a:rPr>
              <a:t>Brand names unified: the same brand appeared under more than one label.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971800"/>
            <a:ext cx="8321040" cy="1627632"/>
          </a:xfrm>
          <a:prstGeom prst="roundRect">
            <a:avLst>
              <a:gd name="adj" fmla="val 4000"/>
            </a:avLst>
          </a:prstGeom>
          <a:solidFill>
            <a:srgbClr val="12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3081528"/>
            <a:ext cx="7991856" cy="1408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748499"/>
                </a:solidFill>
                <a:latin typeface="Consolas"/>
              </a:rPr>
              <a:t># portuguese decimal comma, and negatives treated as 0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D6DEE8"/>
                </a:solidFill>
                <a:latin typeface="Consolas"/>
              </a:rPr>
              <a:t>df_work['QUANTITY'] = df_work['QUANTITY'].astype(str).str.replace(',', '.').astype(float)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D6DEE8"/>
                </a:solidFill>
                <a:latin typeface="Consolas"/>
              </a:rPr>
              <a:t>df_work['QUANTITY'] = df_work['QUANTITY'].clip(lower=0)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D6DEE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D6DEE8"/>
                </a:solidFill>
                <a:latin typeface="Consolas"/>
              </a:rPr>
              <a:t>df_work['BRAND'] = df_work['BRAND'].replace({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D6DEE8"/>
                </a:solidFill>
                <a:latin typeface="Consolas"/>
              </a:rPr>
              <a:t>    'Fila apparel_acc': 'Fila', 'Merrell Aces': 'Merrell Foot',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D6DEE8"/>
                </a:solidFill>
                <a:latin typeface="Consolas"/>
              </a:rPr>
              <a:t>    'Munich Sports': 'Munich',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D6DEE8"/>
                </a:solidFill>
                <a:latin typeface="Consolas"/>
              </a:rPr>
              <a:t>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Montserrat"/>
              </a:rPr>
              <a:t>Choosing the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130035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100"/>
              </a:spcAft>
            </a:pPr>
            <a:endParaRPr lang="pt-PT" sz="1350" dirty="0">
              <a:solidFill>
                <a:srgbClr val="FFFFFF"/>
              </a:solidFill>
              <a:latin typeface="Montserrat"/>
            </a:endParaRPr>
          </a:p>
          <a:p>
            <a:pPr>
              <a:spcAft>
                <a:spcPts val="1100"/>
              </a:spcAft>
            </a:pPr>
            <a:r>
              <a:rPr sz="1350" dirty="0">
                <a:solidFill>
                  <a:srgbClr val="FFFFFF"/>
                </a:solidFill>
                <a:latin typeface="Montserrat"/>
              </a:rPr>
              <a:t>The raw file covers 41 locations. Most hold very little stock, and 13 held under 100 units.</a:t>
            </a:r>
          </a:p>
          <a:p>
            <a:pPr>
              <a:spcAft>
                <a:spcPts val="1100"/>
              </a:spcAft>
            </a:pPr>
            <a:r>
              <a:rPr lang="en-US" sz="1350" dirty="0">
                <a:solidFill>
                  <a:srgbClr val="FFFFFF"/>
                </a:solidFill>
                <a:latin typeface="Montserrat"/>
              </a:rPr>
              <a:t>I kept the 6 highest-volume stores, plus HQ as the stock source.</a:t>
            </a:r>
          </a:p>
          <a:p>
            <a:pPr>
              <a:spcAft>
                <a:spcPts val="1100"/>
              </a:spcAft>
            </a:pPr>
            <a:r>
              <a:rPr sz="1350" dirty="0">
                <a:solidFill>
                  <a:srgbClr val="FFFFFF"/>
                </a:solidFill>
                <a:latin typeface="Montserrat"/>
              </a:rPr>
              <a:t>Brands that exist only at HQ and in none of those stores were dropped — nothing to replenish.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880360"/>
            <a:ext cx="8321040" cy="1458468"/>
          </a:xfrm>
          <a:prstGeom prst="roundRect">
            <a:avLst>
              <a:gd name="adj" fmla="val 4000"/>
            </a:avLst>
          </a:prstGeom>
          <a:solidFill>
            <a:srgbClr val="12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2990088"/>
            <a:ext cx="7991856" cy="12390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748499"/>
                </a:solidFill>
                <a:latin typeface="Consolas"/>
              </a:rPr>
              <a:t># scope: the 6 selected stores, keeping HQ as the stock source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D6DEE8"/>
                </a:solidFill>
                <a:latin typeface="Consolas"/>
              </a:rPr>
              <a:t>SELECTED_STORES = ['5-52', '5-53', '5-50', '2-8', '5-51', '2-41']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D6DEE8"/>
                </a:solidFill>
                <a:latin typeface="Consolas"/>
              </a:rPr>
              <a:t>df_work = df_work[df_work['STORE_ID'].isin(SELECTED_STORES + ['1-HQ'])]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D6DEE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748499"/>
                </a:solidFill>
                <a:latin typeface="Consolas"/>
              </a:rPr>
              <a:t># drop brands that exist only at HQ and in no selected store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D6DEE8"/>
                </a:solidFill>
                <a:latin typeface="Consolas"/>
              </a:rPr>
              <a:t>relevant_brands = df_work[df_work['STORE_ID'] != '1-HQ']['BRAND'].unique()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D6DEE8"/>
                </a:solidFill>
                <a:latin typeface="Consolas"/>
              </a:rPr>
              <a:t>df_work = df_work[df_work['BRAND'].isin(relevant_brands)]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Montserrat"/>
              </a:rPr>
              <a:t>Every Store Is Different</a:t>
            </a:r>
          </a:p>
        </p:txBody>
      </p:sp>
      <p:pic>
        <p:nvPicPr>
          <p:cNvPr id="3" name="Picture 2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502920"/>
            <a:ext cx="3467254" cy="434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051560"/>
            <a:ext cx="4937760" cy="372617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FFFFFF"/>
                </a:solidFill>
                <a:latin typeface="Montserrat"/>
              </a:rPr>
              <a:t>Brands are not spread evenly. Each store carries its own mix, and most of the grid is zero.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828800"/>
            <a:ext cx="4937760" cy="29489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FFFFFF"/>
                </a:solidFill>
                <a:latin typeface="Montserrat"/>
              </a:rPr>
              <a:t>Merrell Foot: 2,793 units in Outlet Loures, none in Loja Colombo.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FFFFFF"/>
                </a:solidFill>
                <a:latin typeface="Montserrat"/>
              </a:rPr>
              <a:t>Havaianas exists only in Cascais and Gaia.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FFFFFF"/>
                </a:solidFill>
                <a:latin typeface="Montserrat"/>
              </a:rPr>
              <a:t>Fila sits almost entirely in Outlet Almada.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91840"/>
            <a:ext cx="4937760" cy="14859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2C7A5"/>
                </a:solidFill>
                <a:latin typeface="Montserrat"/>
              </a:rPr>
              <a:t>This is why replenishment only looks at references a store already carries: sending a brand a store does not sell is not replenishment.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Montserrat"/>
              </a:rPr>
              <a:t>The Size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37719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Montserrat"/>
              </a:rPr>
              <a:t>Sizes arrived in eight different formats in the same column. Comparing a store to HQ is impossible until they share one scale.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8321040" cy="1289304"/>
          </a:xfrm>
          <a:prstGeom prst="roundRect">
            <a:avLst>
              <a:gd name="adj" fmla="val 4000"/>
            </a:avLst>
          </a:prstGeom>
          <a:solidFill>
            <a:srgbClr val="12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1938528"/>
            <a:ext cx="7991856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748499"/>
                </a:solidFill>
                <a:latin typeface="Consolas"/>
              </a:rPr>
              <a:t># 41,5  -&gt;  41.5     comma decimals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748499"/>
                </a:solidFill>
                <a:latin typeface="Consolas"/>
              </a:rPr>
              <a:t># 39-40 -&gt;  39.5     range, averaged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748499"/>
                </a:solidFill>
                <a:latin typeface="Consolas"/>
              </a:rPr>
              <a:t># 3940  -&gt;  39.5     range without separator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748499"/>
                </a:solidFill>
                <a:latin typeface="Consolas"/>
              </a:rPr>
              <a:t># 135   -&gt;  13.5     three-digit half-size code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748499"/>
                </a:solidFill>
                <a:latin typeface="Consolas"/>
              </a:rPr>
              <a:t># 5Y    -&gt;  5.0      US kids sizing, number kept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748499"/>
                </a:solidFill>
                <a:latin typeface="Consolas"/>
              </a:rPr>
              <a:t># UNI   -&gt;  NaN      no numeric equivalent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566160"/>
            <a:ext cx="8321040" cy="121158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B8C0CC"/>
                </a:solidFill>
                <a:latin typeface="Montserrat"/>
              </a:rPr>
              <a:t>Kids US sizes keep their number and are never compared against EU sizes, because the logic always works inside a single reference.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160520"/>
            <a:ext cx="83210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00" i="1">
                <a:solidFill>
                  <a:srgbClr val="B8C0CC"/>
                </a:solidFill>
                <a:latin typeface="Montserrat"/>
              </a:rPr>
              <a:t>75 rows (0.3%) use letter sizes and are excluded from size comparisons.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  <a:latin typeface="Montserrat"/>
              </a:rPr>
              <a:t>How it works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Montserrat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37719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Montserrat"/>
              </a:rPr>
              <a:t>The language model reads the question and decides which function to call. It never produces a stock figure itself.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737360"/>
            <a:ext cx="8321040" cy="1458468"/>
          </a:xfrm>
          <a:prstGeom prst="roundRect">
            <a:avLst>
              <a:gd name="adj" fmla="val 4000"/>
            </a:avLst>
          </a:prstGeom>
          <a:solidFill>
            <a:srgbClr val="12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1847088"/>
            <a:ext cx="7991856" cy="12390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D6DEE8"/>
                </a:solidFill>
                <a:latin typeface="Consolas"/>
              </a:rPr>
              <a:t>  user question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D6DEE8"/>
                </a:solidFill>
                <a:latin typeface="Consolas"/>
              </a:rPr>
              <a:t>        |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D6DEE8"/>
                </a:solidFill>
                <a:latin typeface="Consolas"/>
              </a:rPr>
              <a:t>        v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D6DEE8"/>
                </a:solidFill>
                <a:latin typeface="Consolas"/>
              </a:rPr>
              <a:t>  LLM  (routing only, no data)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D6DEE8"/>
                </a:solidFill>
                <a:latin typeface="Consolas"/>
              </a:rPr>
              <a:t>        |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D6DEE8"/>
                </a:solidFill>
                <a:latin typeface="Consolas"/>
              </a:rPr>
              <a:t>        v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D6DEE8"/>
                </a:solidFill>
                <a:latin typeface="Consolas"/>
              </a:rPr>
              <a:t>  Python query function  -&gt;  dataset  -&gt;  real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0"/>
            <a:ext cx="8321040" cy="93725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82C7A5"/>
                </a:solidFill>
                <a:latin typeface="Montserrat"/>
              </a:rPr>
              <a:t>Every number on screen comes from pandas, not from the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FFFFFF"/>
                </a:solidFill>
                <a:latin typeface="Montserrat"/>
              </a:rPr>
              <a:t>Function Calling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05840"/>
            <a:ext cx="8321040" cy="56425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</a:pPr>
            <a:endParaRPr lang="pt-PT" sz="1350" dirty="0">
              <a:solidFill>
                <a:srgbClr val="FFFFFF"/>
              </a:solidFill>
              <a:latin typeface="Montserrat"/>
            </a:endParaRPr>
          </a:p>
          <a:p>
            <a:pPr>
              <a:spcAft>
                <a:spcPts val="800"/>
              </a:spcAft>
            </a:pPr>
            <a:r>
              <a:rPr sz="1350" dirty="0">
                <a:solidFill>
                  <a:srgbClr val="FFFFFF"/>
                </a:solidFill>
                <a:latin typeface="Montserrat"/>
              </a:rPr>
              <a:t>Each function is described to the model as a tool. The model picks one and fills in the arguments.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737360"/>
            <a:ext cx="8321040" cy="2135124"/>
          </a:xfrm>
          <a:prstGeom prst="roundRect">
            <a:avLst>
              <a:gd name="adj" fmla="val 4000"/>
            </a:avLst>
          </a:prstGeom>
          <a:solidFill>
            <a:srgbClr val="12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1847088"/>
            <a:ext cx="7991856" cy="19156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    'name': 'find_replenishable_sizes',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    'description': 'Find sizes the central warehouse has in stock but a store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                    does not, for references the store already carries.',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    'parameters': {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        'store_input':     {'type': 'string'},   # required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        'brand_input':     {'type': 'string'},   # optional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        'reference_input': {'type': 'string'},   # optional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        'units_per_size':  {'type': 'integer'},  # optional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    },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114800"/>
            <a:ext cx="83210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00" i="1">
                <a:solidFill>
                  <a:srgbClr val="B8C0CC"/>
                </a:solidFill>
                <a:latin typeface="Montserrat"/>
              </a:rPr>
              <a:t>"Which Nike sizes are missing in Loja Colombo?"  -&gt;  store_input='Loja Colombo', brand_input='Nike'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Montserrat"/>
              </a:rPr>
              <a:t>The Query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8321040" cy="244682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300"/>
              </a:spcAft>
            </a:pPr>
            <a:endParaRPr lang="pt-PT" sz="1300" b="1" dirty="0">
              <a:solidFill>
                <a:srgbClr val="82C7A5"/>
              </a:solidFill>
              <a:latin typeface="Montserrat"/>
            </a:endParaRPr>
          </a:p>
          <a:p>
            <a:pPr>
              <a:spcAft>
                <a:spcPts val="1300"/>
              </a:spcAft>
            </a:pPr>
            <a:r>
              <a:rPr sz="1300" b="1" dirty="0" err="1">
                <a:solidFill>
                  <a:srgbClr val="82C7A5"/>
                </a:solidFill>
                <a:latin typeface="Montserrat"/>
              </a:rPr>
              <a:t>find_replenishable_sizes</a:t>
            </a:r>
            <a:r>
              <a:rPr sz="1300" b="1" dirty="0">
                <a:solidFill>
                  <a:srgbClr val="82C7A5"/>
                </a:solidFill>
                <a:latin typeface="Montserrat"/>
              </a:rPr>
              <a:t>  </a:t>
            </a:r>
            <a:r>
              <a:rPr sz="1300" dirty="0">
                <a:solidFill>
                  <a:srgbClr val="FFFFFF"/>
                </a:solidFill>
                <a:latin typeface="Montserrat"/>
              </a:rPr>
              <a:t>— sizes HQ has and a store does not</a:t>
            </a:r>
          </a:p>
          <a:p>
            <a:pPr>
              <a:spcAft>
                <a:spcPts val="1300"/>
              </a:spcAft>
            </a:pPr>
            <a:r>
              <a:rPr sz="1300" b="1" dirty="0" err="1">
                <a:solidFill>
                  <a:srgbClr val="82C7A5"/>
                </a:solidFill>
                <a:latin typeface="Montserrat"/>
              </a:rPr>
              <a:t>generate_replenishment_document</a:t>
            </a:r>
            <a:r>
              <a:rPr sz="1300" b="1" dirty="0">
                <a:solidFill>
                  <a:srgbClr val="82C7A5"/>
                </a:solidFill>
                <a:latin typeface="Montserrat"/>
              </a:rPr>
              <a:t>  </a:t>
            </a:r>
            <a:r>
              <a:rPr sz="1300" dirty="0">
                <a:solidFill>
                  <a:srgbClr val="FFFFFF"/>
                </a:solidFill>
                <a:latin typeface="Montserrat"/>
              </a:rPr>
              <a:t>— printable picking list; commits the stock</a:t>
            </a:r>
          </a:p>
          <a:p>
            <a:pPr>
              <a:spcAft>
                <a:spcPts val="1300"/>
              </a:spcAft>
            </a:pPr>
            <a:r>
              <a:rPr sz="1300" b="1" dirty="0" err="1">
                <a:solidFill>
                  <a:srgbClr val="82C7A5"/>
                </a:solidFill>
                <a:latin typeface="Montserrat"/>
              </a:rPr>
              <a:t>find_reference</a:t>
            </a:r>
            <a:r>
              <a:rPr sz="1300" b="1" dirty="0">
                <a:solidFill>
                  <a:srgbClr val="82C7A5"/>
                </a:solidFill>
                <a:latin typeface="Montserrat"/>
              </a:rPr>
              <a:t>  </a:t>
            </a:r>
            <a:r>
              <a:rPr sz="1300" dirty="0">
                <a:solidFill>
                  <a:srgbClr val="FFFFFF"/>
                </a:solidFill>
                <a:latin typeface="Montserrat"/>
              </a:rPr>
              <a:t>— where a reference exists, by prefix, with quantities per size</a:t>
            </a:r>
          </a:p>
          <a:p>
            <a:pPr>
              <a:spcAft>
                <a:spcPts val="1300"/>
              </a:spcAft>
            </a:pPr>
            <a:r>
              <a:rPr sz="1300" b="1" dirty="0" err="1">
                <a:solidFill>
                  <a:srgbClr val="82C7A5"/>
                </a:solidFill>
                <a:latin typeface="Montserrat"/>
              </a:rPr>
              <a:t>get_quantity</a:t>
            </a:r>
            <a:r>
              <a:rPr sz="1300" b="1" dirty="0">
                <a:solidFill>
                  <a:srgbClr val="82C7A5"/>
                </a:solidFill>
                <a:latin typeface="Montserrat"/>
              </a:rPr>
              <a:t>  </a:t>
            </a:r>
            <a:r>
              <a:rPr sz="1300" dirty="0">
                <a:solidFill>
                  <a:srgbClr val="FFFFFF"/>
                </a:solidFill>
                <a:latin typeface="Montserrat"/>
              </a:rPr>
              <a:t>— stock totals by store and/or brand</a:t>
            </a:r>
          </a:p>
          <a:p>
            <a:pPr>
              <a:spcAft>
                <a:spcPts val="1300"/>
              </a:spcAft>
            </a:pPr>
            <a:r>
              <a:rPr sz="1300" b="1" dirty="0" err="1">
                <a:solidFill>
                  <a:srgbClr val="82C7A5"/>
                </a:solidFill>
                <a:latin typeface="Montserrat"/>
              </a:rPr>
              <a:t>find_model_by_type</a:t>
            </a:r>
            <a:r>
              <a:rPr sz="1300" b="1" dirty="0">
                <a:solidFill>
                  <a:srgbClr val="82C7A5"/>
                </a:solidFill>
                <a:latin typeface="Montserrat"/>
              </a:rPr>
              <a:t>  </a:t>
            </a:r>
            <a:r>
              <a:rPr sz="1300" dirty="0">
                <a:solidFill>
                  <a:srgbClr val="FFFFFF"/>
                </a:solidFill>
                <a:latin typeface="Montserrat"/>
              </a:rPr>
              <a:t>— where a brand exists, grouped by HQ / store / outlet</a:t>
            </a:r>
          </a:p>
          <a:p>
            <a:pPr>
              <a:spcAft>
                <a:spcPts val="1300"/>
              </a:spcAft>
            </a:pPr>
            <a:r>
              <a:rPr sz="1300" b="1" dirty="0" err="1">
                <a:solidFill>
                  <a:srgbClr val="82C7A5"/>
                </a:solidFill>
                <a:latin typeface="Montserrat"/>
              </a:rPr>
              <a:t>export_stock</a:t>
            </a:r>
            <a:r>
              <a:rPr sz="1300" b="1" dirty="0">
                <a:solidFill>
                  <a:srgbClr val="82C7A5"/>
                </a:solidFill>
                <a:latin typeface="Montserrat"/>
              </a:rPr>
              <a:t>  </a:t>
            </a:r>
            <a:r>
              <a:rPr sz="1300" dirty="0">
                <a:solidFill>
                  <a:srgbClr val="FFFFFF"/>
                </a:solidFill>
                <a:latin typeface="Montserrat"/>
              </a:rPr>
              <a:t>— full store stock as an Excel size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60520"/>
            <a:ext cx="83210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00" i="1">
                <a:solidFill>
                  <a:srgbClr val="B8C0CC"/>
                </a:solidFill>
                <a:latin typeface="Montserrat"/>
              </a:rPr>
              <a:t>All of them take the cleaned dataframe as the first argument — no hidden state, so Streamlit can cache the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Montserrat"/>
              </a:rPr>
              <a:t>Replenishment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8321040" cy="53860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</a:pPr>
            <a:endParaRPr lang="pt-PT" sz="1350" dirty="0">
              <a:solidFill>
                <a:srgbClr val="FFFFFF"/>
              </a:solidFill>
              <a:latin typeface="Montserrat"/>
            </a:endParaRPr>
          </a:p>
          <a:p>
            <a:pPr>
              <a:spcAft>
                <a:spcPts val="600"/>
              </a:spcAft>
            </a:pPr>
            <a:r>
              <a:rPr sz="1350" dirty="0">
                <a:solidFill>
                  <a:srgbClr val="FFFFFF"/>
                </a:solidFill>
                <a:latin typeface="Montserrat"/>
              </a:rPr>
              <a:t>For each reference the store already carries, compare its sizes against what HQ holds.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54480"/>
            <a:ext cx="8321040" cy="1965960"/>
          </a:xfrm>
          <a:prstGeom prst="roundRect">
            <a:avLst>
              <a:gd name="adj" fmla="val 4000"/>
            </a:avLst>
          </a:prstGeom>
          <a:solidFill>
            <a:srgbClr val="12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1664207"/>
            <a:ext cx="7991856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>
                <a:solidFill>
                  <a:srgbClr val="748499"/>
                </a:solidFill>
                <a:latin typeface="Consolas"/>
              </a:rPr>
              <a:t># reference/size pairs the store already has covered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store_sizes = set(map(tuple, store_data.loc[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    store_data['QUANTITY'] &gt; 0, ['REFERENCE', 'SIZE_NUMERIC']].values))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already_in_store = pd.Series(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    [(r, s) in store_sizes for r, s in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     zip(hq_stock['REFERENCE'], hq_stock['SIZE_NUMERIC'])],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    index=hq_stock.index)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50">
                <a:solidFill>
                  <a:srgbClr val="D6DEE8"/>
                </a:solidFill>
                <a:latin typeface="Consolas"/>
              </a:rPr>
              <a:t>missing = hq_stock[(hq_stock['HQ_AVAILABLE'] &gt; 0) &amp; (~already_in_store)]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977639"/>
            <a:ext cx="83210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00" i="1">
                <a:solidFill>
                  <a:srgbClr val="B8C0CC"/>
                </a:solidFill>
                <a:latin typeface="Montserrat"/>
              </a:rPr>
              <a:t>Only references the store already carries — otherwise "replenish this store" would return the entire HQ catalogue.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Montserrat"/>
              </a:rPr>
              <a:t>Session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8321040" cy="53860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600"/>
              </a:spcAft>
            </a:pPr>
            <a:endParaRPr lang="pt-PT" sz="1350" dirty="0">
              <a:solidFill>
                <a:srgbClr val="FFFFFF"/>
              </a:solidFill>
              <a:latin typeface="Montserrat"/>
            </a:endParaRPr>
          </a:p>
          <a:p>
            <a:pPr>
              <a:spcAft>
                <a:spcPts val="600"/>
              </a:spcAft>
            </a:pPr>
            <a:r>
              <a:rPr sz="1350" dirty="0">
                <a:solidFill>
                  <a:srgbClr val="FFFFFF"/>
                </a:solidFill>
                <a:latin typeface="Montserrat"/>
              </a:rPr>
              <a:t>Replenish store A, then store B. Store B must not be offered stock already committed to store 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54480"/>
            <a:ext cx="8321040" cy="1458468"/>
          </a:xfrm>
          <a:prstGeom prst="roundRect">
            <a:avLst>
              <a:gd name="adj" fmla="val 4000"/>
            </a:avLst>
          </a:prstGeom>
          <a:solidFill>
            <a:srgbClr val="12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1664207"/>
            <a:ext cx="7991856" cy="12390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dirty="0">
                <a:solidFill>
                  <a:srgbClr val="748499"/>
                </a:solidFill>
                <a:latin typeface="Consolas"/>
              </a:rPr>
              <a:t># discount stock already committed to earlier documents in this session</a:t>
            </a:r>
          </a:p>
          <a:p>
            <a:pPr algn="l">
              <a:spcAft>
                <a:spcPts val="0"/>
              </a:spcAft>
            </a:pPr>
            <a:r>
              <a:rPr sz="1050" dirty="0" err="1">
                <a:solidFill>
                  <a:srgbClr val="D6DEE8"/>
                </a:solidFill>
                <a:latin typeface="Consolas"/>
              </a:rPr>
              <a:t>hq_stock</a:t>
            </a:r>
            <a:r>
              <a:rPr sz="1050" dirty="0">
                <a:solidFill>
                  <a:srgbClr val="D6DEE8"/>
                </a:solidFill>
                <a:latin typeface="Consolas"/>
              </a:rPr>
              <a:t>['HQ_AVAILABLE'] = [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D6DEE8"/>
                </a:solidFill>
                <a:latin typeface="Consolas"/>
              </a:rPr>
              <a:t>    int(q - </a:t>
            </a:r>
            <a:r>
              <a:rPr sz="1050" dirty="0" err="1">
                <a:solidFill>
                  <a:srgbClr val="D6DEE8"/>
                </a:solidFill>
                <a:latin typeface="Consolas"/>
              </a:rPr>
              <a:t>allocated.get</a:t>
            </a:r>
            <a:r>
              <a:rPr sz="1050" dirty="0">
                <a:solidFill>
                  <a:srgbClr val="D6DEE8"/>
                </a:solidFill>
                <a:latin typeface="Consolas"/>
              </a:rPr>
              <a:t>((r, s), 0))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D6DEE8"/>
                </a:solidFill>
                <a:latin typeface="Consolas"/>
              </a:rPr>
              <a:t>    for r, s, q in zip(</a:t>
            </a:r>
            <a:r>
              <a:rPr sz="1050" dirty="0" err="1">
                <a:solidFill>
                  <a:srgbClr val="D6DEE8"/>
                </a:solidFill>
                <a:latin typeface="Consolas"/>
              </a:rPr>
              <a:t>hq_stock</a:t>
            </a:r>
            <a:r>
              <a:rPr sz="1050" dirty="0">
                <a:solidFill>
                  <a:srgbClr val="D6DEE8"/>
                </a:solidFill>
                <a:latin typeface="Consolas"/>
              </a:rPr>
              <a:t>['REFERENCE'],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D6DEE8"/>
                </a:solidFill>
                <a:latin typeface="Consolas"/>
              </a:rPr>
              <a:t>                       </a:t>
            </a:r>
            <a:r>
              <a:rPr sz="1050" dirty="0" err="1">
                <a:solidFill>
                  <a:srgbClr val="D6DEE8"/>
                </a:solidFill>
                <a:latin typeface="Consolas"/>
              </a:rPr>
              <a:t>hq_stock</a:t>
            </a:r>
            <a:r>
              <a:rPr sz="1050" dirty="0">
                <a:solidFill>
                  <a:srgbClr val="D6DEE8"/>
                </a:solidFill>
                <a:latin typeface="Consolas"/>
              </a:rPr>
              <a:t>['SIZE'],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D6DEE8"/>
                </a:solidFill>
                <a:latin typeface="Consolas"/>
              </a:rPr>
              <a:t>                       </a:t>
            </a:r>
            <a:r>
              <a:rPr sz="1050" dirty="0" err="1">
                <a:solidFill>
                  <a:srgbClr val="D6DEE8"/>
                </a:solidFill>
                <a:latin typeface="Consolas"/>
              </a:rPr>
              <a:t>hq_stock</a:t>
            </a:r>
            <a:r>
              <a:rPr sz="1050" dirty="0">
                <a:solidFill>
                  <a:srgbClr val="D6DEE8"/>
                </a:solidFill>
                <a:latin typeface="Consolas"/>
              </a:rPr>
              <a:t>['QUANTITY'])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D6DEE8"/>
                </a:solidFill>
                <a:latin typeface="Consolas"/>
              </a:rPr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8321040" cy="902811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000"/>
              </a:spcAft>
            </a:pPr>
            <a:endParaRPr lang="pt-PT" sz="1300" dirty="0">
              <a:solidFill>
                <a:srgbClr val="FFFFFF"/>
              </a:solidFill>
              <a:latin typeface="Montserrat"/>
            </a:endParaRPr>
          </a:p>
          <a:p>
            <a:pPr>
              <a:spcAft>
                <a:spcPts val="1000"/>
              </a:spcAft>
            </a:pPr>
            <a:r>
              <a:rPr sz="1300" dirty="0">
                <a:solidFill>
                  <a:srgbClr val="FFFFFF"/>
                </a:solidFill>
                <a:latin typeface="Montserrat"/>
              </a:rPr>
              <a:t>Querying never commits anything. Stock leaves HQ only when a document is generated.</a:t>
            </a:r>
          </a:p>
          <a:p>
            <a:pPr>
              <a:spcAft>
                <a:spcPts val="1000"/>
              </a:spcAft>
            </a:pPr>
            <a:r>
              <a:rPr sz="1300" dirty="0">
                <a:solidFill>
                  <a:srgbClr val="FFFFFF"/>
                </a:solidFill>
                <a:latin typeface="Montserrat"/>
              </a:rPr>
              <a:t>Nothing is written back to the dataset — the record lives in the </a:t>
            </a:r>
            <a:r>
              <a:rPr sz="1300" dirty="0" err="1">
                <a:solidFill>
                  <a:srgbClr val="FFFFFF"/>
                </a:solidFill>
                <a:latin typeface="Montserrat"/>
              </a:rPr>
              <a:t>Streamlit</a:t>
            </a:r>
            <a:r>
              <a:rPr sz="1300" dirty="0">
                <a:solidFill>
                  <a:srgbClr val="FFFFFF"/>
                </a:solidFill>
                <a:latin typeface="Montserrat"/>
              </a:rPr>
              <a:t> session.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Montserrat"/>
              </a:rPr>
              <a:t>The Picking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8321040" cy="56425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00"/>
              </a:spcAft>
            </a:pPr>
            <a:endParaRPr lang="pt-PT" sz="1350" dirty="0">
              <a:solidFill>
                <a:srgbClr val="FFFFFF"/>
              </a:solidFill>
              <a:latin typeface="Montserrat"/>
            </a:endParaRPr>
          </a:p>
          <a:p>
            <a:pPr>
              <a:spcAft>
                <a:spcPts val="800"/>
              </a:spcAft>
            </a:pPr>
            <a:r>
              <a:rPr sz="1350" dirty="0">
                <a:solidFill>
                  <a:srgbClr val="FFFFFF"/>
                </a:solidFill>
                <a:latin typeface="Montserrat"/>
              </a:rPr>
              <a:t>The output is an Excel file built for someone walking the warehouse floor with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00200"/>
            <a:ext cx="8321040" cy="1458468"/>
          </a:xfrm>
          <a:prstGeom prst="roundRect">
            <a:avLst>
              <a:gd name="adj" fmla="val 4000"/>
            </a:avLst>
          </a:prstGeom>
          <a:solidFill>
            <a:srgbClr val="12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1709928"/>
            <a:ext cx="7991856" cy="12390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>
                <a:solidFill>
                  <a:srgbClr val="D6DEE8"/>
                </a:solidFill>
                <a:latin typeface="Consolas"/>
              </a:rPr>
              <a:t>REPLENISHMENT — LOJA COLOMBO</a:t>
            </a:r>
          </a:p>
          <a:p>
            <a:pPr algn="l">
              <a:spcAft>
                <a:spcPts val="0"/>
              </a:spcAft>
            </a:pPr>
            <a:r>
              <a:rPr sz="950">
                <a:solidFill>
                  <a:srgbClr val="D6DEE8"/>
                </a:solidFill>
                <a:latin typeface="Consolas"/>
              </a:rPr>
              <a:t>Brand: Nike | Lines: 72 | Total units: 72 | 06/09/2026 15:42</a:t>
            </a:r>
          </a:p>
          <a:p>
            <a:pPr algn="l">
              <a:spcAft>
                <a:spcPts val="0"/>
              </a:spcAft>
            </a:pPr>
            <a:r>
              <a:rPr sz="950">
                <a:solidFill>
                  <a:srgbClr val="D6DEE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950">
                <a:solidFill>
                  <a:srgbClr val="D6DEE8"/>
                </a:solidFill>
                <a:latin typeface="Consolas"/>
              </a:rPr>
              <a:t>BRAND   REFERENCE     DESCRIPTION              ITEM_TYPE  SIZE  QTY  PICKED</a:t>
            </a:r>
          </a:p>
          <a:p>
            <a:pPr algn="l">
              <a:spcAft>
                <a:spcPts val="0"/>
              </a:spcAft>
            </a:pPr>
            <a:r>
              <a:rPr sz="950">
                <a:solidFill>
                  <a:srgbClr val="D6DEE8"/>
                </a:solidFill>
                <a:latin typeface="Consolas"/>
              </a:rPr>
              <a:t>Nike    DD8959-103    WMNS AIR FORCE 1 '07     MULHER     5.5    1    __</a:t>
            </a:r>
          </a:p>
          <a:p>
            <a:pPr algn="l">
              <a:spcAft>
                <a:spcPts val="0"/>
              </a:spcAft>
            </a:pPr>
            <a:r>
              <a:rPr sz="950">
                <a:solidFill>
                  <a:srgbClr val="D6DEE8"/>
                </a:solidFill>
                <a:latin typeface="Consolas"/>
              </a:rPr>
              <a:t>Nike    DD8959-103    WMNS AIR FORCE 1 '07     MULHER     8.5    1    __</a:t>
            </a:r>
          </a:p>
          <a:p>
            <a:pPr algn="l">
              <a:spcAft>
                <a:spcPts val="0"/>
              </a:spcAft>
            </a:pPr>
            <a:r>
              <a:rPr sz="950">
                <a:solidFill>
                  <a:srgbClr val="D6DEE8"/>
                </a:solidFill>
                <a:latin typeface="Consolas"/>
              </a:rPr>
              <a:t>Nike    FV6603-101D   WMNS NIKE P-6000 MTLC    MULHER     37.5   1    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8321040" cy="15773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FFFFFF"/>
                </a:solidFill>
                <a:latin typeface="Montserrat"/>
              </a:rPr>
              <a:t>Sorted alphabetically for physical picking, header repeated on every printed page, and an empty column to tick off each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023360"/>
            <a:ext cx="83210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200" i="1" dirty="0">
                <a:solidFill>
                  <a:srgbClr val="B8C0CC"/>
                </a:solidFill>
                <a:latin typeface="Montserrat"/>
              </a:rPr>
              <a:t>HQ availability is deliberately left out — the picker only needs to know what to take.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  <a:latin typeface="Montserrat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918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2C7A5"/>
                </a:solidFill>
                <a:latin typeface="Consolas"/>
                <a:hlinkClick r:id="rId3"/>
              </a:rPr>
              <a:t>http://localhost:8501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Montserrat"/>
              </a:rP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43000"/>
            <a:ext cx="8321040" cy="2372444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700"/>
              </a:spcAft>
            </a:pPr>
            <a:endParaRPr lang="pt-PT" sz="1350" b="1" dirty="0">
              <a:solidFill>
                <a:srgbClr val="82C7A5"/>
              </a:solidFill>
              <a:latin typeface="Montserrat"/>
            </a:endParaRPr>
          </a:p>
          <a:p>
            <a:pPr>
              <a:spcAft>
                <a:spcPts val="1700"/>
              </a:spcAft>
            </a:pPr>
            <a:r>
              <a:rPr sz="1350" b="1" dirty="0">
                <a:solidFill>
                  <a:srgbClr val="82C7A5"/>
                </a:solidFill>
                <a:latin typeface="Montserrat"/>
              </a:rPr>
              <a:t>The LLM routes, it does not calculate.  </a:t>
            </a:r>
            <a:r>
              <a:rPr sz="1350" dirty="0">
                <a:solidFill>
                  <a:srgbClr val="FFFFFF"/>
                </a:solidFill>
                <a:latin typeface="Montserrat"/>
              </a:rPr>
              <a:t>Function calling maps intent to deterministic Python.</a:t>
            </a:r>
          </a:p>
          <a:p>
            <a:pPr>
              <a:spcAft>
                <a:spcPts val="1700"/>
              </a:spcAft>
            </a:pPr>
            <a:r>
              <a:rPr sz="1350" b="1" dirty="0">
                <a:solidFill>
                  <a:srgbClr val="82C7A5"/>
                </a:solidFill>
                <a:latin typeface="Montserrat"/>
              </a:rPr>
              <a:t>Querying is not committing.  </a:t>
            </a:r>
            <a:r>
              <a:rPr sz="1350" dirty="0">
                <a:solidFill>
                  <a:srgbClr val="FFFFFF"/>
                </a:solidFill>
                <a:latin typeface="Montserrat"/>
              </a:rPr>
              <a:t>Managers explore freely; stock is only allocated on generate.</a:t>
            </a:r>
          </a:p>
          <a:p>
            <a:pPr>
              <a:spcAft>
                <a:spcPts val="1700"/>
              </a:spcAft>
            </a:pPr>
            <a:r>
              <a:rPr sz="1350" b="1" dirty="0">
                <a:solidFill>
                  <a:srgbClr val="82C7A5"/>
                </a:solidFill>
                <a:latin typeface="Montserrat"/>
              </a:rPr>
              <a:t>Chat plus a confirmation form.  </a:t>
            </a:r>
            <a:r>
              <a:rPr sz="1350" dirty="0">
                <a:solidFill>
                  <a:srgbClr val="FFFFFF"/>
                </a:solidFill>
                <a:latin typeface="Montserrat"/>
              </a:rPr>
              <a:t>Asking is natural language; deciding how many units is a form field.</a:t>
            </a:r>
          </a:p>
          <a:p>
            <a:pPr>
              <a:spcAft>
                <a:spcPts val="1700"/>
              </a:spcAft>
            </a:pPr>
            <a:r>
              <a:rPr sz="1350" b="1" dirty="0">
                <a:solidFill>
                  <a:srgbClr val="82C7A5"/>
                </a:solidFill>
                <a:latin typeface="Montserrat"/>
              </a:rPr>
              <a:t>Functions extracted to a module.  </a:t>
            </a:r>
            <a:r>
              <a:rPr sz="1350" dirty="0">
                <a:solidFill>
                  <a:srgbClr val="FFFFFF"/>
                </a:solidFill>
                <a:latin typeface="Montserrat"/>
              </a:rPr>
              <a:t>The notebook and the app share one implementation, not two copies.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Montserrat"/>
              </a:rPr>
              <a:t>What It Does Not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0"/>
            <a:ext cx="8321040" cy="35890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600"/>
              </a:spcAft>
            </a:pPr>
            <a:r>
              <a:rPr sz="1350">
                <a:solidFill>
                  <a:srgbClr val="FFFFFF"/>
                </a:solidFill>
                <a:latin typeface="Montserrat"/>
              </a:rPr>
              <a:t>It finds which sizes are missing, not how many units a store needs — that requires sales history the dataset does not have.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FFFFFF"/>
                </a:solidFill>
                <a:latin typeface="Montserrat"/>
              </a:rPr>
              <a:t>Allocation resets when the app closes. There is no database.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FFFFFF"/>
                </a:solidFill>
                <a:latin typeface="Montserrat"/>
              </a:rPr>
              <a:t>Letter sizes (UNI, S, M) are excluded from size comparisons, though still counted in totals.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FFFFFF"/>
                </a:solidFill>
                <a:latin typeface="Montserrat"/>
              </a:rPr>
              <a:t>Reference typos involving transposed characters are not detected.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  <a:latin typeface="Montserrat"/>
              </a:rPr>
              <a:t>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201080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400"/>
              </a:spcAft>
            </a:pPr>
            <a:endParaRPr lang="pt-PT" sz="1350" dirty="0">
              <a:solidFill>
                <a:srgbClr val="FFFFFF"/>
              </a:solidFill>
              <a:latin typeface="Montserrat"/>
            </a:endParaRPr>
          </a:p>
          <a:p>
            <a:pPr>
              <a:spcAft>
                <a:spcPts val="1400"/>
              </a:spcAft>
            </a:pPr>
            <a:r>
              <a:rPr sz="1350" dirty="0">
                <a:solidFill>
                  <a:srgbClr val="FFFFFF"/>
                </a:solidFill>
                <a:latin typeface="Montserrat"/>
              </a:rPr>
              <a:t>Cover every location and every product type, not just footwear in six stores.</a:t>
            </a:r>
          </a:p>
          <a:p>
            <a:pPr>
              <a:spcAft>
                <a:spcPts val="1400"/>
              </a:spcAft>
            </a:pPr>
            <a:r>
              <a:rPr sz="1350" dirty="0">
                <a:solidFill>
                  <a:srgbClr val="FFFFFF"/>
                </a:solidFill>
                <a:latin typeface="Montserrat"/>
              </a:rPr>
              <a:t>Add sales files, so the system can predict how many units and which references are worth sending.</a:t>
            </a:r>
          </a:p>
          <a:p>
            <a:pPr>
              <a:spcAft>
                <a:spcPts val="1400"/>
              </a:spcAft>
            </a:pPr>
            <a:r>
              <a:rPr sz="1350" dirty="0">
                <a:solidFill>
                  <a:srgbClr val="FFFFFF"/>
                </a:solidFill>
                <a:latin typeface="Montserrat"/>
              </a:rPr>
              <a:t>Allow store-to-store transfers: a size sitting dead in one store may be selling in another.</a:t>
            </a:r>
          </a:p>
          <a:p>
            <a:pPr>
              <a:spcAft>
                <a:spcPts val="1400"/>
              </a:spcAft>
            </a:pPr>
            <a:r>
              <a:rPr sz="1350" dirty="0">
                <a:solidFill>
                  <a:srgbClr val="FFFFFF"/>
                </a:solidFill>
                <a:latin typeface="Montserrat"/>
              </a:rPr>
              <a:t>Accept stock files from any </a:t>
            </a:r>
            <a:r>
              <a:rPr lang="pt-PT" sz="1350" dirty="0">
                <a:solidFill>
                  <a:srgbClr val="FFFFFF"/>
                </a:solidFill>
                <a:latin typeface="Montserrat"/>
              </a:rPr>
              <a:t>date</a:t>
            </a:r>
            <a:endParaRPr sz="1350" dirty="0">
              <a:solidFill>
                <a:srgbClr val="FFFFFF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FFFF"/>
                </a:solidFill>
                <a:latin typeface="Montserrat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004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2C7A5"/>
                </a:solidFill>
                <a:latin typeface="Consolas"/>
              </a:rPr>
              <a:t>github.com/nelsonp55/stock-replenishment-assistant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B8C0CC"/>
                </a:solidFill>
                <a:latin typeface="Montserrat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778</TotalTime>
  <Words>2313</Words>
  <Application>Microsoft Office PowerPoint</Application>
  <PresentationFormat>Apresentação no Ecrã (16:9)</PresentationFormat>
  <Paragraphs>199</Paragraphs>
  <Slides>20</Slides>
  <Notes>20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20</vt:i4>
      </vt:variant>
    </vt:vector>
  </HeadingPairs>
  <TitlesOfParts>
    <vt:vector size="25" baseType="lpstr">
      <vt:lpstr>Arial</vt:lpstr>
      <vt:lpstr>Montserrat</vt:lpstr>
      <vt:lpstr>Lato</vt:lpstr>
      <vt:lpstr>Consolas</vt:lpstr>
      <vt:lpstr>Focus</vt:lpstr>
      <vt:lpstr>Stock Replenishment Assistant</vt:lpstr>
      <vt:lpstr>What? Why?</vt:lpstr>
      <vt:lpstr>Objectives</vt:lpstr>
      <vt:lpstr>Dataset</vt:lpstr>
      <vt:lpstr>Cleaning the Data</vt:lpstr>
      <vt:lpstr>Choosing the Scope</vt:lpstr>
      <vt:lpstr>Every Store Is Different</vt:lpstr>
      <vt:lpstr>The Size Problem</vt:lpstr>
      <vt:lpstr>How it works</vt:lpstr>
      <vt:lpstr>Architecture</vt:lpstr>
      <vt:lpstr>Function Calling</vt:lpstr>
      <vt:lpstr>The Query Functions</vt:lpstr>
      <vt:lpstr>Replenishment Logic</vt:lpstr>
      <vt:lpstr>Session Allocation</vt:lpstr>
      <vt:lpstr>The Picking Document</vt:lpstr>
      <vt:lpstr>Demo</vt:lpstr>
      <vt:lpstr>Design Decisions</vt:lpstr>
      <vt:lpstr>What It Does Not Do</vt:lpstr>
      <vt:lpstr>Future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Nelson</dc:creator>
  <cp:lastModifiedBy>NELSON MANUEL LUIS PORTELA</cp:lastModifiedBy>
  <cp:revision>25</cp:revision>
  <dcterms:modified xsi:type="dcterms:W3CDTF">2026-09-10T11:08:51Z</dcterms:modified>
</cp:coreProperties>
</file>