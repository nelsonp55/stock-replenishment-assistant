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15"/>
    <p:sldId id="257" r:id="rId16"/>
    <p:sldId id="258" r:id="rId14"/>
    <p:sldId id="259" r:id="rId13"/>
    <p:sldId id="260" r:id="rId12"/>
    <p:sldId id="261" r:id="rId11"/>
    <p:sldId id="262" r:id="rId10"/>
    <p:sldId id="263" r:id="rId9"/>
    <p:sldId id="264" r:id="rId8"/>
    <p:sldId id="265" r:id="rId7"/>
    <p:sldId id="266" r:id="rId6"/>
    <p:sldId id="267" r:id="rId5"/>
    <p:sldId id="268" r:id="rId4"/>
    <p:sldId id="269" r:id="rId3"/>
    <p:sldId id="270" r:id="rId2"/>
    <p:sldId id="271" r:id="rId30"/>
    <p:sldId id="272" r:id="rId31"/>
    <p:sldId id="273" r:id="rId32"/>
  </p:sldIdLst>
  <p:sldSz cx="9144000" cy="5143500" type="screen16x9"/>
  <p:notesSz cx="6858000" cy="9144000"/>
  <p:embeddedFontLs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Montserrat" panose="000005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708" y="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8.xml"/><Relationship Id="rId10" Type="http://schemas.openxmlformats.org/officeDocument/2006/relationships/slide" Target="slides/slide7.xml"/><Relationship Id="rId11" Type="http://schemas.openxmlformats.org/officeDocument/2006/relationships/slide" Target="slides/slide6.xml"/><Relationship Id="rId12" Type="http://schemas.openxmlformats.org/officeDocument/2006/relationships/slide" Target="slides/slide5.xml"/><Relationship Id="rId13" Type="http://schemas.openxmlformats.org/officeDocument/2006/relationships/slide" Target="slides/slide4.xml"/><Relationship Id="rId14" Type="http://schemas.openxmlformats.org/officeDocument/2006/relationships/slide" Target="slides/slide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Relationship Id="rId23" Type="http://schemas.openxmlformats.org/officeDocument/2006/relationships/font" Target="fonts/font6.fntdata"/><Relationship Id="rId24" Type="http://schemas.openxmlformats.org/officeDocument/2006/relationships/font" Target="fonts/font7.fntdata"/><Relationship Id="rId25" Type="http://schemas.openxmlformats.org/officeDocument/2006/relationships/font" Target="fonts/font8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Good morning. My final project is a chatbot that helps footwear store managers find out what stock they can pull from the central warehouse, and turns that answer into a printable picking list.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 problem I lived. In sports retail the size gap is the most common lost sale: the customer wants the shoe, you have it, just not in their size, and the warehouse has it sitting there.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goals. Everything in the project serves one of these.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Real data, so it is anonymised and stays out of the repo. The numbers you see are after cleaning.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negative quantities were the interesting one — my first instinct was to drop those rows, but they represent transfers in progress, so treating them as zero is the conservative choice.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was the hardest cleaning problem. A 6 in kids US sizing and a 6 in EU sizing are completely different shoes. The reason it is safe is that the replenishment logic never compares sizes across references.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Now the part that matters — the architecture.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single most important design decision in the project. The model is a router. If it hallucinated a quantity, a store would ship the wrong shoes.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description is the whole trick. The model matches the user question against these descriptions to pick the right tool.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functions. They live in src/replenishment.py so the notebook and the app share the same code instead of keeping two copies that drift apart.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scope rule is the important part. This is size-gap replenishment, not new assortment. Without it a general request returns thousands of useless lines.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deliberately kept this out of the database. A stateless design was easier to defend and the deadline did not allow a persistence layer. Querying is free; only generating a document commits.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Small detail that matters: the person picking does not need to know HQ has 107 pairs. They need to know they are taking one. Showing both invites mistakes.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 SCRIPT:</a:t>
            </a:r>
          </a:p>
          <a:p>
            <a:r>
              <a:t>1. "Where is reference DH2920?" — shows the text answer</a:t>
            </a:r>
          </a:p>
          <a:p>
            <a:r>
              <a:t>2. "Which Nike sizes are missing in Loja Colombo?" — shows the table</a:t>
            </a:r>
          </a:p>
          <a:p>
            <a:r>
              <a:t>3. Set units per size to 1, generate the document, open it</a:t>
            </a:r>
          </a:p>
          <a:p>
            <a:r>
              <a:t>4. Ask the same question again — the committed sizes are gone</a:t>
            </a:r>
          </a:p>
          <a:p/>
          <a:p>
            <a:r>
              <a:t>Reset session allocations before starting.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If you remember one slide, this is it. Every one of these was a decision with an alternative I rejected for a reason.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would rather tell you these than have you find them. Each one was a scope decision, not an oversight.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first one is the real product. Everything here is a size-gap tool; with sales history it becomes an allocation tool. That is where the value 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7415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://localhost:8501" TargetMode="Externa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>
                <a:solidFill>
                  <a:srgbClr val="FFFFFF"/>
                </a:solidFill>
                <a:latin typeface="Montserrat"/>
              </a:rPr>
              <a:t>Stock Replenishment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>
                <a:solidFill>
                  <a:srgbClr val="B8C0CC"/>
                </a:solidFill>
                <a:latin typeface="Montserrat"/>
              </a:rPr>
              <a:t>Nelson Portela  ·  Ironhack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8321040" cy="372617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Montserrat"/>
              </a:rPr>
              <a:t>A retail chain holds stock in a central warehouse (HQ) and in its stores.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Montserrat"/>
              </a:rPr>
              <a:t>When a store runs out of a size, someone has to check HQ manually, decide what is worth sending, and write a picking list by hand.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Montserrat"/>
              </a:rPr>
              <a:t>That check is slow, easy to get wrong, and nobody does it often enough.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880360"/>
            <a:ext cx="8321040" cy="612647"/>
          </a:xfrm>
          <a:prstGeom prst="roundRect">
            <a:avLst>
              <a:gd name="adj" fmla="val 4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990088"/>
            <a:ext cx="7991856" cy="393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>
                <a:solidFill>
                  <a:srgbClr val="D6DEE8"/>
                </a:solidFill>
                <a:latin typeface="Consolas"/>
              </a:rPr>
              <a:t>Store manager:  "Do we have a 42 of this model anywhere?"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D6DEE8"/>
                </a:solidFill>
                <a:latin typeface="Consolas"/>
              </a:rPr>
              <a:t>Warehouse:      opens the stock file, filters, scrolls, guesses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77639"/>
            <a:ext cx="832104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i="1">
                <a:solidFill>
                  <a:srgbClr val="B8C0CC"/>
                </a:solidFill>
                <a:latin typeface="Montserrat"/>
              </a:rPr>
              <a:t>I spent years in sports retail doing exactly this by hand.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371600"/>
            <a:ext cx="8321040" cy="34061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200"/>
              </a:spcAft>
            </a:pPr>
            <a:r>
              <a:rPr b="1" sz="1600">
                <a:solidFill>
                  <a:srgbClr val="82C7A5"/>
                </a:solidFill>
                <a:latin typeface="Montserrat"/>
              </a:rPr>
              <a:t>Answer stock questions in plain language  </a:t>
            </a:r>
            <a:r>
              <a:rPr sz="1600">
                <a:solidFill>
                  <a:srgbClr val="FFFFFF"/>
                </a:solidFill>
                <a:latin typeface="Montserrat"/>
              </a:rPr>
              <a:t>— no filters, no training, no manual.</a:t>
            </a:r>
          </a:p>
          <a:p>
            <a:pPr>
              <a:spcAft>
                <a:spcPts val="2200"/>
              </a:spcAft>
            </a:pPr>
            <a:r>
              <a:rPr b="1" sz="1600">
                <a:solidFill>
                  <a:srgbClr val="82C7A5"/>
                </a:solidFill>
                <a:latin typeface="Montserrat"/>
              </a:rPr>
              <a:t>Find replenishable sizes automatically  </a:t>
            </a:r>
            <a:r>
              <a:rPr sz="1600">
                <a:solidFill>
                  <a:srgbClr val="FFFFFF"/>
                </a:solidFill>
                <a:latin typeface="Montserrat"/>
              </a:rPr>
              <a:t>— what HQ has and the store does not.</a:t>
            </a:r>
          </a:p>
          <a:p>
            <a:pPr>
              <a:spcAft>
                <a:spcPts val="2200"/>
              </a:spcAft>
            </a:pPr>
            <a:r>
              <a:rPr b="1" sz="1600">
                <a:solidFill>
                  <a:srgbClr val="82C7A5"/>
                </a:solidFill>
                <a:latin typeface="Montserrat"/>
              </a:rPr>
              <a:t>Produce a printable picking document  </a:t>
            </a:r>
            <a:r>
              <a:rPr sz="1600">
                <a:solidFill>
                  <a:srgbClr val="FFFFFF"/>
                </a:solidFill>
                <a:latin typeface="Montserrat"/>
              </a:rPr>
              <a:t>— ready for the warehouse team.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5840"/>
            <a:ext cx="8321040" cy="37719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Montserrat"/>
              </a:rPr>
              <a:t>A real stock snapshot from a footwear retailer — one row per brand, reference, size and location.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1908810" cy="1234440"/>
          </a:xfrm>
          <a:prstGeom prst="roundRect">
            <a:avLst>
              <a:gd name="adj" fmla="val 8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56232"/>
            <a:ext cx="190881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82C7A5"/>
                </a:solidFill>
                <a:latin typeface="Montserrat"/>
              </a:rPr>
              <a:t>23,279</a:t>
            </a:r>
          </a:p>
          <a:p>
            <a:pPr algn="ctr"/>
            <a:r>
              <a:rPr sz="1100">
                <a:solidFill>
                  <a:srgbClr val="B8C0CC"/>
                </a:solidFill>
                <a:latin typeface="Montserrat"/>
              </a:rPr>
              <a:t>rows after cleaning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48890" y="1691640"/>
            <a:ext cx="1908810" cy="1234440"/>
          </a:xfrm>
          <a:prstGeom prst="roundRect">
            <a:avLst>
              <a:gd name="adj" fmla="val 8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48890" y="1856232"/>
            <a:ext cx="190881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82C7A5"/>
                </a:solidFill>
                <a:latin typeface="Montserrat"/>
              </a:rPr>
              <a:t>7</a:t>
            </a:r>
          </a:p>
          <a:p>
            <a:pPr algn="ctr"/>
            <a:r>
              <a:rPr sz="1100">
                <a:solidFill>
                  <a:srgbClr val="B8C0CC"/>
                </a:solidFill>
                <a:latin typeface="Montserrat"/>
              </a:rPr>
              <a:t>locations (HQ + 6 stores)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6300" y="1691640"/>
            <a:ext cx="1908810" cy="1234440"/>
          </a:xfrm>
          <a:prstGeom prst="roundRect">
            <a:avLst>
              <a:gd name="adj" fmla="val 8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6300" y="1856232"/>
            <a:ext cx="190881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82C7A5"/>
                </a:solidFill>
                <a:latin typeface="Montserrat"/>
              </a:rPr>
              <a:t>94,363</a:t>
            </a:r>
          </a:p>
          <a:p>
            <a:pPr algn="ctr"/>
            <a:r>
              <a:rPr sz="1100">
                <a:solidFill>
                  <a:srgbClr val="B8C0CC"/>
                </a:solidFill>
                <a:latin typeface="Montserrat"/>
              </a:rPr>
              <a:t>units of stock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3709" y="1691640"/>
            <a:ext cx="1908810" cy="1234440"/>
          </a:xfrm>
          <a:prstGeom prst="roundRect">
            <a:avLst>
              <a:gd name="adj" fmla="val 8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3709" y="1856232"/>
            <a:ext cx="190881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82C7A5"/>
                </a:solidFill>
                <a:latin typeface="Montserrat"/>
              </a:rPr>
              <a:t>1</a:t>
            </a:r>
          </a:p>
          <a:p>
            <a:pPr algn="ctr"/>
            <a:r>
              <a:rPr sz="1100">
                <a:solidFill>
                  <a:srgbClr val="B8C0CC"/>
                </a:solidFill>
                <a:latin typeface="Montserrat"/>
              </a:rPr>
              <a:t>product family (footwear)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291840"/>
            <a:ext cx="832104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i="1">
                <a:solidFill>
                  <a:srgbClr val="B8C0CC"/>
                </a:solidFill>
                <a:latin typeface="Montserrat"/>
              </a:rPr>
              <a:t>Store names are anonymised and the file is not published in the repository.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5840"/>
            <a:ext cx="8321040" cy="37719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Kept warehouses 1 (HQ), 2 (stores) and 5 (outlets) — the rest are returns and repairs.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Footwear only, dropping every other product family.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Negative quantities set to 0 — incomplete transfers in the source system, not real stock.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Brand names unified: the same brand appeared under three different labels.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880360"/>
            <a:ext cx="8321040" cy="1627632"/>
          </a:xfrm>
          <a:prstGeom prst="roundRect">
            <a:avLst>
              <a:gd name="adj" fmla="val 4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990088"/>
            <a:ext cx="7991856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D6DEE8"/>
                </a:solidFill>
                <a:latin typeface="Consolas"/>
              </a:rPr>
              <a:t>df_work['QUANTITY'] = df_work['QUANTITY'].astype(str).str.replace(',', '.').astype(float)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D6DEE8"/>
                </a:solidFill>
                <a:latin typeface="Consolas"/>
              </a:rPr>
              <a:t>df_work['QUANTITY'] = df_work['QUANTITY'].clip(lower=0)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D6DEE8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D6DEE8"/>
                </a:solidFill>
                <a:latin typeface="Consolas"/>
              </a:rPr>
              <a:t>df_work['BRAND'] = df_work['BRAND'].replace({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D6DEE8"/>
                </a:solidFill>
                <a:latin typeface="Consolas"/>
              </a:rPr>
              <a:t>    'Fila apparel_acc': 'Fila',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D6DEE8"/>
                </a:solidFill>
                <a:latin typeface="Consolas"/>
              </a:rPr>
              <a:t>    'Merrell Aces': 'Merrell Foot',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D6DEE8"/>
                </a:solidFill>
                <a:latin typeface="Consolas"/>
              </a:rPr>
              <a:t>    'Munich Sports': 'Munich',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D6DEE8"/>
                </a:solidFill>
                <a:latin typeface="Consolas"/>
              </a:rPr>
              <a:t>})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The Size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5840"/>
            <a:ext cx="8321040" cy="37719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Montserrat"/>
              </a:rPr>
              <a:t>Sizes arrived in eight different formats in the same column. Comparing a store to HQ is impossible until they share one scale.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28800"/>
            <a:ext cx="8321040" cy="1289304"/>
          </a:xfrm>
          <a:prstGeom prst="roundRect">
            <a:avLst>
              <a:gd name="adj" fmla="val 4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938528"/>
            <a:ext cx="799185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>
                <a:solidFill>
                  <a:srgbClr val="748499"/>
                </a:solidFill>
                <a:latin typeface="Consolas"/>
              </a:rPr>
              <a:t># 41,5  -&gt;  41.5     comma decimals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748499"/>
                </a:solidFill>
                <a:latin typeface="Consolas"/>
              </a:rPr>
              <a:t># 39-40 -&gt;  39.5     range, averaged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748499"/>
                </a:solidFill>
                <a:latin typeface="Consolas"/>
              </a:rPr>
              <a:t># 3940  -&gt;  39.5     range without separator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748499"/>
                </a:solidFill>
                <a:latin typeface="Consolas"/>
              </a:rPr>
              <a:t># 135   -&gt;  13.5     three-digit half-size code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748499"/>
                </a:solidFill>
                <a:latin typeface="Consolas"/>
              </a:rPr>
              <a:t># 5Y    -&gt;  5.0      US kids sizing, number kept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748499"/>
                </a:solidFill>
                <a:latin typeface="Consolas"/>
              </a:rPr>
              <a:t># UNI   -&gt;  NaN      no numeric equivalent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66160"/>
            <a:ext cx="8321040" cy="12115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B8C0CC"/>
                </a:solidFill>
                <a:latin typeface="Montserrat"/>
              </a:rPr>
              <a:t>Kids US sizes keep their number and are never compared against EU sizes, because the logic always works inside a single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160520"/>
            <a:ext cx="832104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i="1">
                <a:solidFill>
                  <a:srgbClr val="B8C0CC"/>
                </a:solidFill>
                <a:latin typeface="Montserrat"/>
              </a:rPr>
              <a:t>75 rows (0.3%) use letter sizes and are excluded from size comparisons.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Montserrat"/>
              </a:rPr>
              <a:t>How it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5840"/>
            <a:ext cx="8321040" cy="37719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Montserrat"/>
              </a:rPr>
              <a:t>The language model reads the question and decides which function to call. It never produces a stock figure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37360"/>
            <a:ext cx="8321040" cy="1458468"/>
          </a:xfrm>
          <a:prstGeom prst="roundRect">
            <a:avLst>
              <a:gd name="adj" fmla="val 4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847088"/>
            <a:ext cx="7991856" cy="1239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>
                <a:solidFill>
                  <a:srgbClr val="D6DEE8"/>
                </a:solidFill>
                <a:latin typeface="Consolas"/>
              </a:rPr>
              <a:t>  user question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D6DEE8"/>
                </a:solidFill>
                <a:latin typeface="Consolas"/>
              </a:rPr>
              <a:t>        |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D6DEE8"/>
                </a:solidFill>
                <a:latin typeface="Consolas"/>
              </a:rPr>
              <a:t>        v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D6DEE8"/>
                </a:solidFill>
                <a:latin typeface="Consolas"/>
              </a:rPr>
              <a:t>  LLM  (routing only, no data)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D6DEE8"/>
                </a:solidFill>
                <a:latin typeface="Consolas"/>
              </a:rPr>
              <a:t>        |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D6DEE8"/>
                </a:solidFill>
                <a:latin typeface="Consolas"/>
              </a:rPr>
              <a:t>        v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D6DEE8"/>
                </a:solidFill>
                <a:latin typeface="Consolas"/>
              </a:rPr>
              <a:t>  Python query function  -&gt;  dataset  -&gt;  real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0"/>
            <a:ext cx="8321040" cy="93725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82C7A5"/>
                </a:solidFill>
                <a:latin typeface="Montserrat"/>
              </a:rPr>
              <a:t>Every number on screen comes from pandas, not from the model.</a:t>
            </a:r>
            <a:r>
              <a:rPr sz="1400">
                <a:solidFill>
                  <a:srgbClr val="FFFFFF"/>
                </a:solidFill>
                <a:latin typeface="Montserrat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Function Calling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5840"/>
            <a:ext cx="8321040" cy="37719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Each function is described to the model as a tool. The model picks one and fills in the arguments.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37360"/>
            <a:ext cx="8321040" cy="2135124"/>
          </a:xfrm>
          <a:prstGeom prst="roundRect">
            <a:avLst>
              <a:gd name="adj" fmla="val 4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847088"/>
            <a:ext cx="7991856" cy="1915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'name': 'find_replenishable_sizes',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'description': 'Find sizes the central warehouse has in stock but a store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                does not, for references the store already carries.',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'parameters': {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    'store_input':     {'type': 'string'},   # required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    'brand_input':     {'type': 'string'},   # optional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    'reference_input': {'type': 'string'},   # optional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    'units_per_size':  {'type': 'integer'},  # optional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},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114800"/>
            <a:ext cx="832104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i="1">
                <a:solidFill>
                  <a:srgbClr val="B8C0CC"/>
                </a:solidFill>
                <a:latin typeface="Montserrat"/>
              </a:rPr>
              <a:t>"Which Nike sizes are missing in Loja Colombo?"  -&gt;  store_input='Loja Colombo', brand_input='Nike'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The Query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43000"/>
            <a:ext cx="8321040" cy="36347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3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find_replenishable_sizes  </a:t>
            </a:r>
            <a:r>
              <a:rPr sz="1300">
                <a:solidFill>
                  <a:srgbClr val="FFFFFF"/>
                </a:solidFill>
                <a:latin typeface="Montserrat"/>
              </a:rPr>
              <a:t>— sizes HQ has and a store does not</a:t>
            </a:r>
          </a:p>
          <a:p>
            <a:pPr>
              <a:spcAft>
                <a:spcPts val="13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generate_replenishment_document  </a:t>
            </a:r>
            <a:r>
              <a:rPr sz="1300">
                <a:solidFill>
                  <a:srgbClr val="FFFFFF"/>
                </a:solidFill>
                <a:latin typeface="Montserrat"/>
              </a:rPr>
              <a:t>— printable picking list; commits the stock</a:t>
            </a:r>
          </a:p>
          <a:p>
            <a:pPr>
              <a:spcAft>
                <a:spcPts val="13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find_reference  </a:t>
            </a:r>
            <a:r>
              <a:rPr sz="1300">
                <a:solidFill>
                  <a:srgbClr val="FFFFFF"/>
                </a:solidFill>
                <a:latin typeface="Montserrat"/>
              </a:rPr>
              <a:t>— where a reference exists, by prefix, with quantities per size</a:t>
            </a:r>
          </a:p>
          <a:p>
            <a:pPr>
              <a:spcAft>
                <a:spcPts val="13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get_quantity  </a:t>
            </a:r>
            <a:r>
              <a:rPr sz="1300">
                <a:solidFill>
                  <a:srgbClr val="FFFFFF"/>
                </a:solidFill>
                <a:latin typeface="Montserrat"/>
              </a:rPr>
              <a:t>— stock totals by store and/or brand</a:t>
            </a:r>
          </a:p>
          <a:p>
            <a:pPr>
              <a:spcAft>
                <a:spcPts val="13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find_model_by_type  </a:t>
            </a:r>
            <a:r>
              <a:rPr sz="1300">
                <a:solidFill>
                  <a:srgbClr val="FFFFFF"/>
                </a:solidFill>
                <a:latin typeface="Montserrat"/>
              </a:rPr>
              <a:t>— where a brand exists, grouped by HQ / store / outlet</a:t>
            </a:r>
          </a:p>
          <a:p>
            <a:pPr>
              <a:spcAft>
                <a:spcPts val="13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export_stock  </a:t>
            </a:r>
            <a:r>
              <a:rPr sz="1300">
                <a:solidFill>
                  <a:srgbClr val="FFFFFF"/>
                </a:solidFill>
                <a:latin typeface="Montserrat"/>
              </a:rPr>
              <a:t>— full store stock as an Excel size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160520"/>
            <a:ext cx="832104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i="1">
                <a:solidFill>
                  <a:srgbClr val="B8C0CC"/>
                </a:solidFill>
                <a:latin typeface="Montserrat"/>
              </a:rPr>
              <a:t>All of them take the cleaned dataframe as the first argument — no hidden state, so Streamlit can cache the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Replenishment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60120"/>
            <a:ext cx="8321040" cy="38176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For each reference the store already carries, compare its sizes against what HQ holds.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54480"/>
            <a:ext cx="8321040" cy="1965960"/>
          </a:xfrm>
          <a:prstGeom prst="roundRect">
            <a:avLst>
              <a:gd name="adj" fmla="val 4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664207"/>
            <a:ext cx="7991856" cy="1746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>
                <a:solidFill>
                  <a:srgbClr val="748499"/>
                </a:solidFill>
                <a:latin typeface="Consolas"/>
              </a:rPr>
              <a:t># reference/size pairs the store already has covered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store_sizes = set(map(tuple, store_data.loc[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store_data['QUANTITY'] &gt; 0, ['REFERENCE', 'SIZE_NUMERIC']].values))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already_in_store = pd.Series(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[(r, s) in store_sizes for r, s in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 zip(hq_stock['REFERENCE'], hq_stock['SIZE_NUMERIC'])],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index=hq_stock.index)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missing = hq_stock[(hq_stock['HQ_AVAILABLE'] &gt; 0) &amp; (~already_in_store)]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77639"/>
            <a:ext cx="832104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i="1">
                <a:solidFill>
                  <a:srgbClr val="B8C0CC"/>
                </a:solidFill>
                <a:latin typeface="Montserrat"/>
              </a:rPr>
              <a:t>Only references the store already carries — otherwise "replenish this store" would return the entire HQ catalogue.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Session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60120"/>
            <a:ext cx="8321040" cy="38176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Replenish store A, then store B. Store B must not be offered stock already committed to store 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54480"/>
            <a:ext cx="8321040" cy="1458468"/>
          </a:xfrm>
          <a:prstGeom prst="roundRect">
            <a:avLst>
              <a:gd name="adj" fmla="val 4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664207"/>
            <a:ext cx="7991856" cy="1239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>
                <a:solidFill>
                  <a:srgbClr val="748499"/>
                </a:solidFill>
                <a:latin typeface="Consolas"/>
              </a:rPr>
              <a:t># discount stock already committed to earlier documents in this session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hq_stock['HQ_AVAILABLE'] = [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int(q - allocated.get((r, s), 0))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for r, s, q in zip(hq_stock['REFERENCE'],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                   hq_stock['SIZE'],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                       hq_stock['QUANTITY'])</a:t>
            </a:r>
          </a:p>
          <a:p>
            <a:pPr algn="l">
              <a:spcAft>
                <a:spcPts val="0"/>
              </a:spcAft>
            </a:pPr>
            <a:r>
              <a:rPr sz="1050">
                <a:solidFill>
                  <a:srgbClr val="D6DEE8"/>
                </a:solidFill>
                <a:latin typeface="Consolas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200400"/>
            <a:ext cx="8321040" cy="15773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FFFFFF"/>
                </a:solidFill>
                <a:latin typeface="Montserrat"/>
              </a:rPr>
              <a:t>Querying never commits anything. Stock leaves HQ only when a document is generated.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FFFFFF"/>
                </a:solidFill>
                <a:latin typeface="Montserrat"/>
              </a:rPr>
              <a:t>Nothing is written back to the dataset — the record lives in the Streamlit session.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The Picking 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60120"/>
            <a:ext cx="8321040" cy="38176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The output is an Excel file built for someone walking the warehouse floor with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00200"/>
            <a:ext cx="8321040" cy="1458468"/>
          </a:xfrm>
          <a:prstGeom prst="roundRect">
            <a:avLst>
              <a:gd name="adj" fmla="val 4000"/>
            </a:avLst>
          </a:prstGeom>
          <a:solidFill>
            <a:srgbClr val="12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709928"/>
            <a:ext cx="7991856" cy="1239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D6DEE8"/>
                </a:solidFill>
                <a:latin typeface="Consolas"/>
              </a:rPr>
              <a:t>REPLENISHMENT — LOJA COLOMBO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D6DEE8"/>
                </a:solidFill>
                <a:latin typeface="Consolas"/>
              </a:rPr>
              <a:t>Brand: Nike | Lines: 72 | Total units: 72 | 06/09/2026 15:42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D6DEE8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D6DEE8"/>
                </a:solidFill>
                <a:latin typeface="Consolas"/>
              </a:rPr>
              <a:t>BRAND   REFERENCE     DESCRIPTION              ITEM_TYPE  SIZE  QTY  PICKED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D6DEE8"/>
                </a:solidFill>
                <a:latin typeface="Consolas"/>
              </a:rPr>
              <a:t>Nike    DD8959-103    WMNS AIR FORCE 1 '07     MULHER     5.5    1    __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D6DEE8"/>
                </a:solidFill>
                <a:latin typeface="Consolas"/>
              </a:rPr>
              <a:t>Nike    DD8959-103    WMNS AIR FORCE 1 '07     MULHER     8.5    1    __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D6DEE8"/>
                </a:solidFill>
                <a:latin typeface="Consolas"/>
              </a:rPr>
              <a:t>Nike    FV6603-101D   WMNS NIKE P-6000 MTLC    MULHER     37.5   1    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200400"/>
            <a:ext cx="8321040" cy="15773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FFFFFF"/>
                </a:solidFill>
                <a:latin typeface="Montserrat"/>
              </a:rPr>
              <a:t>Sorted alphabetically for physical picking, header repeated on every printed page, and an empty column to tick off each 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023360"/>
            <a:ext cx="832104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i="1">
                <a:solidFill>
                  <a:srgbClr val="B8C0CC"/>
                </a:solidFill>
                <a:latin typeface="Montserrat"/>
              </a:rPr>
              <a:t>HQ availability is deliberately left out — the picker only needs to know what to take.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Montserrat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9184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82C7A5"/>
                </a:solidFill>
                <a:latin typeface="Consolas"/>
                <a:hlinkClick r:id="rId2"/>
              </a:rPr>
              <a:t>http://localhost:8501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43000"/>
            <a:ext cx="8321040" cy="36347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700"/>
              </a:spcAft>
            </a:pPr>
            <a:r>
              <a:rPr b="1" sz="1350">
                <a:solidFill>
                  <a:srgbClr val="82C7A5"/>
                </a:solidFill>
                <a:latin typeface="Montserrat"/>
              </a:rPr>
              <a:t>The LLM routes, it does not calculate.  </a:t>
            </a:r>
            <a:r>
              <a:rPr sz="1350">
                <a:solidFill>
                  <a:srgbClr val="FFFFFF"/>
                </a:solidFill>
                <a:latin typeface="Montserrat"/>
              </a:rPr>
              <a:t>Function calling maps intent to deterministic Python.</a:t>
            </a:r>
          </a:p>
          <a:p>
            <a:pPr>
              <a:spcAft>
                <a:spcPts val="1700"/>
              </a:spcAft>
            </a:pPr>
            <a:r>
              <a:rPr b="1" sz="1350">
                <a:solidFill>
                  <a:srgbClr val="82C7A5"/>
                </a:solidFill>
                <a:latin typeface="Montserrat"/>
              </a:rPr>
              <a:t>Querying is not committing.  </a:t>
            </a:r>
            <a:r>
              <a:rPr sz="1350">
                <a:solidFill>
                  <a:srgbClr val="FFFFFF"/>
                </a:solidFill>
                <a:latin typeface="Montserrat"/>
              </a:rPr>
              <a:t>Managers explore freely; stock is only allocated on generate.</a:t>
            </a:r>
          </a:p>
          <a:p>
            <a:pPr>
              <a:spcAft>
                <a:spcPts val="1700"/>
              </a:spcAft>
            </a:pPr>
            <a:r>
              <a:rPr b="1" sz="1350">
                <a:solidFill>
                  <a:srgbClr val="82C7A5"/>
                </a:solidFill>
                <a:latin typeface="Montserrat"/>
              </a:rPr>
              <a:t>Chat plus a confirmation form.  </a:t>
            </a:r>
            <a:r>
              <a:rPr sz="1350">
                <a:solidFill>
                  <a:srgbClr val="FFFFFF"/>
                </a:solidFill>
                <a:latin typeface="Montserrat"/>
              </a:rPr>
              <a:t>Asking is natural language; deciding how many units is a form field.</a:t>
            </a:r>
          </a:p>
          <a:p>
            <a:pPr>
              <a:spcAft>
                <a:spcPts val="1700"/>
              </a:spcAft>
            </a:pPr>
            <a:r>
              <a:rPr b="1" sz="1350">
                <a:solidFill>
                  <a:srgbClr val="82C7A5"/>
                </a:solidFill>
                <a:latin typeface="Montserrat"/>
              </a:rPr>
              <a:t>Functions extracted to a module.  </a:t>
            </a:r>
            <a:r>
              <a:rPr sz="1350">
                <a:solidFill>
                  <a:srgbClr val="FFFFFF"/>
                </a:solidFill>
                <a:latin typeface="Montserrat"/>
              </a:rPr>
              <a:t>The notebook and the app share one implementation, not two copies.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What It Does Not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8321040" cy="35890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6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It finds which sizes are missing, not how many units a store needs — that requires sales history the dataset does not have.</a:t>
            </a:r>
          </a:p>
          <a:p>
            <a:pPr>
              <a:spcAft>
                <a:spcPts val="16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Allocation resets when the app closes. There is no database.</a:t>
            </a:r>
          </a:p>
          <a:p>
            <a:pPr>
              <a:spcAft>
                <a:spcPts val="16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Letter sizes (UNI, S, M) are excluded from size comparisons, though still counted in totals.</a:t>
            </a:r>
          </a:p>
          <a:p>
            <a:pPr>
              <a:spcAft>
                <a:spcPts val="1600"/>
              </a:spcAft>
            </a:pPr>
            <a:r>
              <a:rPr sz="1350">
                <a:solidFill>
                  <a:srgbClr val="FFFFFF"/>
                </a:solidFill>
                <a:latin typeface="Montserrat"/>
              </a:rPr>
              <a:t>Reference typos involving transposed characters are not detected.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Montserrat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43000"/>
            <a:ext cx="8321040" cy="36347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5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Sales history  </a:t>
            </a:r>
            <a:r>
              <a:rPr sz="1300">
                <a:solidFill>
                  <a:srgbClr val="FFFFFF"/>
                </a:solidFill>
                <a:latin typeface="Montserrat"/>
              </a:rPr>
              <a:t>— turn "which sizes are missing" into "how many to send", based on what each store actually sells.</a:t>
            </a:r>
          </a:p>
          <a:p>
            <a:pPr>
              <a:spcAft>
                <a:spcPts val="15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Persistence  </a:t>
            </a:r>
            <a:r>
              <a:rPr sz="1300">
                <a:solidFill>
                  <a:srgbClr val="FFFFFF"/>
                </a:solidFill>
                <a:latin typeface="Montserrat"/>
              </a:rPr>
              <a:t>— a small database so allocations survive between sessions and become an auditable record.</a:t>
            </a:r>
          </a:p>
          <a:p>
            <a:pPr>
              <a:spcAft>
                <a:spcPts val="15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Store-to-store transfers  </a:t>
            </a:r>
            <a:r>
              <a:rPr sz="1300">
                <a:solidFill>
                  <a:srgbClr val="FFFFFF"/>
                </a:solidFill>
                <a:latin typeface="Montserrat"/>
              </a:rPr>
              <a:t>— HQ is not the only source; a size sitting dead in one store may be selling in another.</a:t>
            </a:r>
          </a:p>
          <a:p>
            <a:pPr>
              <a:spcAft>
                <a:spcPts val="1500"/>
              </a:spcAft>
            </a:pPr>
            <a:r>
              <a:rPr b="1" sz="1300">
                <a:solidFill>
                  <a:srgbClr val="82C7A5"/>
                </a:solidFill>
                <a:latin typeface="Montserrat"/>
              </a:rPr>
              <a:t>Barcode scanning  </a:t>
            </a:r>
            <a:r>
              <a:rPr sz="1300">
                <a:solidFill>
                  <a:srgbClr val="FFFFFF"/>
                </a:solidFill>
                <a:latin typeface="Montserrat"/>
              </a:rPr>
              <a:t>— close the loop by confirming what was physically picked.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Montserrat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0040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82C7A5"/>
                </a:solidFill>
                <a:latin typeface="Consolas"/>
              </a:rPr>
              <a:t>github.com/nelsonp55/stock-replenishment-assistant</a:t>
            </a:r>
          </a:p>
          <a:p>
            <a:pPr>
              <a:spcBef>
                <a:spcPts val="1400"/>
              </a:spcBef>
            </a:pPr>
            <a:r>
              <a:rPr sz="1300">
                <a:solidFill>
                  <a:srgbClr val="B8C0CC"/>
                </a:solidFill>
                <a:latin typeface="Montserrat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768</TotalTime>
  <Words>514</Words>
  <Application>Microsoft Office PowerPoint</Application>
  <PresentationFormat>Apresentação no Ecrã (16:9)</PresentationFormat>
  <Paragraphs>84</Paragraphs>
  <Slides>15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15</vt:i4>
      </vt:variant>
    </vt:vector>
  </HeadingPairs>
  <TitlesOfParts>
    <vt:vector size="19" baseType="lpstr">
      <vt:lpstr>Montserrat</vt:lpstr>
      <vt:lpstr>Lato</vt:lpstr>
      <vt:lpstr>Arial</vt:lpstr>
      <vt:lpstr>Focus</vt:lpstr>
      <vt:lpstr>King County House Price Prediction</vt:lpstr>
      <vt:lpstr>Objectives</vt:lpstr>
      <vt:lpstr>Dataset </vt:lpstr>
      <vt:lpstr>House Price Distribution</vt:lpstr>
      <vt:lpstr>House Price Distribution</vt:lpstr>
      <vt:lpstr>Correlation</vt:lpstr>
      <vt:lpstr>Data Preparation</vt:lpstr>
      <vt:lpstr>Modeling Approach</vt:lpstr>
      <vt:lpstr>Linear Regression</vt:lpstr>
      <vt:lpstr>Random Forest</vt:lpstr>
      <vt:lpstr>Gradient Boosting</vt:lpstr>
      <vt:lpstr>Model Comparison</vt:lpstr>
      <vt:lpstr>Feature Importance </vt:lpstr>
      <vt:lpstr>Properties Above $650,000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Nelson</dc:creator>
  <cp:lastModifiedBy>NELSON MANUEL LUIS PORTELA</cp:lastModifiedBy>
  <cp:revision>24</cp:revision>
  <dcterms:modified xsi:type="dcterms:W3CDTF">2026-07-02T15:04:41Z</dcterms:modified>
</cp:coreProperties>
</file>